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beb1d6e56d4de3" /><Relationship Type="http://schemas.openxmlformats.org/officeDocument/2006/relationships/extended-properties" Target="/docProps/app.xml" Id="R8c6aab1c802b4243" /><Relationship Type="http://schemas.openxmlformats.org/officeDocument/2006/relationships/officeDocument" Target="/ppt/presentation.xml" Id="R8486ee04cd60418f" /></Relationships>
</file>

<file path=ppt/presentation.xml><?xml version="1.0" encoding="utf-8"?>
<p:presentation xmlns:p="http://schemas.openxmlformats.org/presentationml/2006/main">
  <p:sldMasterIdLst>
    <p:sldMasterId xmlns:r="http://schemas.openxmlformats.org/officeDocument/2006/relationships" id="2147483648" r:id="R3098eba31f644548"/>
  </p:sldMasterIdLst>
  <p:notesMasterIdLst>
    <p:notesMasterId xmlns:r="http://schemas.openxmlformats.org/officeDocument/2006/relationships" r:id="R98ef270dc91b4760"/>
  </p:notesMasterIdLst>
  <p:sldIdLst>
    <p:sldId xmlns:r="http://schemas.openxmlformats.org/officeDocument/2006/relationships" id="256" r:id="R0912bc2630334e58"/>
    <p:sldId xmlns:r="http://schemas.openxmlformats.org/officeDocument/2006/relationships" id="257" r:id="Rbf1010fdf97c4a44"/>
    <p:sldId xmlns:r="http://schemas.openxmlformats.org/officeDocument/2006/relationships" id="258" r:id="R09245d69d5f541da"/>
    <p:sldId xmlns:r="http://schemas.openxmlformats.org/officeDocument/2006/relationships" id="259" r:id="R0cbb01c9ca5d4893"/>
    <p:sldId xmlns:r="http://schemas.openxmlformats.org/officeDocument/2006/relationships" id="260" r:id="R7be265855c0a418c"/>
    <p:sldId xmlns:r="http://schemas.openxmlformats.org/officeDocument/2006/relationships" id="261" r:id="R7a490a7df5e9462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6ec8de1b5e4c56" /><Relationship Type="http://schemas.openxmlformats.org/officeDocument/2006/relationships/slideMaster" Target="/ppt/slideMasters/slideMaster1.xml" Id="R3098eba31f644548" /><Relationship Type="http://schemas.openxmlformats.org/officeDocument/2006/relationships/notesMaster" Target="/ppt/notesMasters/notesMaster1.xml" Id="R98ef270dc91b4760" /><Relationship Type="http://schemas.openxmlformats.org/officeDocument/2006/relationships/presProps" Target="/ppt/presProps.xml" Id="Rdbaed72a8f5e484c" /><Relationship Type="http://schemas.openxmlformats.org/officeDocument/2006/relationships/tableStyles" Target="/ppt/tableStyles.xml" Id="R7e230c92f16d4c97" /><Relationship Type="http://schemas.openxmlformats.org/officeDocument/2006/relationships/slide" Target="/ppt/slides/slide1.xml" Id="R0912bc2630334e58" /><Relationship Type="http://schemas.openxmlformats.org/officeDocument/2006/relationships/slide" Target="/ppt/slides/slide2.xml" Id="Rbf1010fdf97c4a44" /><Relationship Type="http://schemas.openxmlformats.org/officeDocument/2006/relationships/slide" Target="/ppt/slides/slide3.xml" Id="R09245d69d5f541da" /><Relationship Type="http://schemas.openxmlformats.org/officeDocument/2006/relationships/slide" Target="/ppt/slides/slide4.xml" Id="R0cbb01c9ca5d4893" /><Relationship Type="http://schemas.openxmlformats.org/officeDocument/2006/relationships/slide" Target="/ppt/slides/slide5.xml" Id="R7be265855c0a418c" /><Relationship Type="http://schemas.openxmlformats.org/officeDocument/2006/relationships/slide" Target="/ppt/slides/slide6.xml" Id="R7a490a7df5e946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a6efe28a064e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f47822eb4e4181" /><Relationship Type="http://schemas.openxmlformats.org/officeDocument/2006/relationships/notesMaster" Target="/ppt/notesMasters/notesMaster1.xml" Id="R2e923b862b3f47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660440abf145aa" /><Relationship Type="http://schemas.openxmlformats.org/officeDocument/2006/relationships/notesMaster" Target="/ppt/notesMasters/notesMaster1.xml" Id="Rfac16739a01646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61712879d54784" /><Relationship Type="http://schemas.openxmlformats.org/officeDocument/2006/relationships/notesMaster" Target="/ppt/notesMasters/notesMaster1.xml" Id="R86a0ee9c140646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fe139aa3574f3c" /><Relationship Type="http://schemas.openxmlformats.org/officeDocument/2006/relationships/notesMaster" Target="/ppt/notesMasters/notesMaster1.xml" Id="Receccb79e91449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adbe7306bd4a42" /><Relationship Type="http://schemas.openxmlformats.org/officeDocument/2006/relationships/notesMaster" Target="/ppt/notesMasters/notesMaster1.xml" Id="R80640788ff6542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0b3a3e9e9f4636" /><Relationship Type="http://schemas.openxmlformats.org/officeDocument/2006/relationships/notesMaster" Target="/ppt/notesMasters/notesMaster1.xml" Id="R771b122233794c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20 seconds. Open by saying that the club connects learning and building: we teach microcontrollers first, then turn those skills into projects that solve visible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Explain the club simply: not just lectures, not just competitions. The goal is to let members learn a platform, build a circuit, test it, and then show a working outcome. This sets up Cindy's Arduino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35 seconds. Say this project shows why the Arduino lesson matters. The key idea is not watering on a timer; it waters only when the soil needs it. Mention the expected 30 percent water saving and weekly-or-less manual adjustment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35 seconds. Transition from Cindy's project: the same embedded thinking scales up. Start from a board, then firmware, then the robot body. Mention that the current resources include lower-controller firmware, ROS 2 base bridge, URDF/RViz assets, following-system code, and STL mechanical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 Tell the audience these are the engineering files. Point to the back shell, bolt pin, and bracket. The important message is that the project is no longer only code; it has parts that can be printed, assembled, tested, and revised.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plus the video. Close by saying the outcome is the process itself: members learned embedded systems, made a useful Arduino product, and started a more ambitious robot project. Then play or insert the final video manually.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88c74526b049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bfbe729a9141ea" /><Relationship Type="http://schemas.openxmlformats.org/officeDocument/2006/relationships/slideLayout" Target="/ppt/slideLayouts/slideLayout1.xml" Id="Rd711111583b541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11111583b541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21631f7b0c4802" /><Relationship Type="http://schemas.openxmlformats.org/officeDocument/2006/relationships/notesSlide" Target="/ppt/notesSlides/notesSlide1.xml" Id="Rcd35db021cd245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ed443c98804f95" /><Relationship Type="http://schemas.openxmlformats.org/officeDocument/2006/relationships/notesSlide" Target="/ppt/notesSlides/notesSlide2.xml" Id="R270adbb1c2e14f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a50e0dc2cd4ba5" /><Relationship Type="http://schemas.openxmlformats.org/officeDocument/2006/relationships/notesSlide" Target="/ppt/notesSlides/notesSlide3.xml" Id="R51a25ce6a8f442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8b042043264255" /><Relationship Type="http://schemas.openxmlformats.org/officeDocument/2006/relationships/notesSlide" Target="/ppt/notesSlides/notesSlide4.xml" Id="Re5d1f294f5f247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b70ff8bbdc4b20" /><Relationship Type="http://schemas.openxmlformats.org/officeDocument/2006/relationships/image" Target="/ppt/media/image.png" Id="Rc30ac6f631304055" /><Relationship Type="http://schemas.openxmlformats.org/officeDocument/2006/relationships/image" Target="/ppt/media/image2.png" Id="Rcde7c6adc67b4a97" /><Relationship Type="http://schemas.openxmlformats.org/officeDocument/2006/relationships/image" Target="/ppt/media/image3.png" Id="Racfa6b737be14aba" /><Relationship Type="http://schemas.openxmlformats.org/officeDocument/2006/relationships/notesSlide" Target="/ppt/notesSlides/notesSlide5.xml" Id="R8935d0d3cc4946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cfbc05820a4ebd" /><Relationship Type="http://schemas.openxmlformats.org/officeDocument/2006/relationships/notesSlide" Target="/ppt/notesSlides/notesSlide6.xml" Id="Rfb34b76b88bb41d4" /></Relationships>
</file>

<file path=ppt/slides/slide1.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 name="club-name">
            <a:extLst xmlns:a="http://schemas.openxmlformats.org/drawingml/2006/main">
              <a:ext uri="{FF2B5EF4-FFF2-40B4-BE49-F238E27FC236}">
                <a16:creationId xmlns:a16="http://schemas.microsoft.com/office/drawing/2014/main" id="{714279DD-3BB9-4CD9-B655-EB09C394EDCE}"/>
              </a:ext>
            </a:extLst>
          </p:cNvPr>
          <p:cNvSpPr>
            <a:spLocks xmlns:a="http://schemas.openxmlformats.org/drawingml/2006/main" noGrp="1"/>
          </p:cNvSpPr>
          <p:nvPr/>
        </p:nvSpPr>
        <p:spPr>
          <a:xfrm xmlns:a="http://schemas.openxmlformats.org/drawingml/2006/main">
            <a:off x="400050" y="4000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111827"/>
                </a:solidFill>
              </a:defRPr>
            </a:pPr>
            <a:r>
              <a:rPr sz="1650">
                <a:solidFill>
                  <a:srgbClr val="111827"/>
                </a:solidFill>
              </a:rPr>
              <a:t>Robotics &amp; Embedded Systems Club</a:t>
            </a:r>
          </a:p>
        </p:txBody>
      </p:sp>
      <p:sp>
        <p:nvSpPr>
          <p:cNvPr id="2" name="deck-label">
            <a:extLst xmlns:a="http://schemas.openxmlformats.org/drawingml/2006/main">
              <a:ext uri="{FF2B5EF4-FFF2-40B4-BE49-F238E27FC236}">
                <a16:creationId xmlns:a16="http://schemas.microsoft.com/office/drawing/2014/main" id="{26675F62-1DD2-4E6D-9280-524734A85581}"/>
              </a:ext>
            </a:extLst>
          </p:cNvPr>
          <p:cNvSpPr>
            <a:spLocks xmlns:a="http://schemas.openxmlformats.org/drawingml/2006/main" noGrp="1"/>
          </p:cNvSpPr>
          <p:nvPr/>
        </p:nvSpPr>
        <p:spPr>
          <a:xfrm xmlns:a="http://schemas.openxmlformats.org/drawingml/2006/main">
            <a:off x="8858250" y="4000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650">
                <a:solidFill>
                  <a:srgbClr val="111827"/>
                </a:solidFill>
              </a:defRPr>
            </a:pPr>
            <a:r>
              <a:rPr sz="1650">
                <a:solidFill>
                  <a:srgbClr val="111827"/>
                </a:solidFill>
              </a:rPr>
              <a:t>Club Project PPT</a:t>
            </a:r>
          </a:p>
        </p:txBody>
      </p:sp>
      <p:sp>
        <p:nvSpPr>
          <p:cNvPr id="3" name="title">
            <a:extLst xmlns:a="http://schemas.openxmlformats.org/drawingml/2006/main">
              <a:ext uri="{FF2B5EF4-FFF2-40B4-BE49-F238E27FC236}">
                <a16:creationId xmlns:a16="http://schemas.microsoft.com/office/drawing/2014/main" id="{ED3718D5-4E79-41B7-B141-C65F09959B1C}"/>
              </a:ext>
            </a:extLst>
          </p:cNvPr>
          <p:cNvSpPr>
            <a:spLocks xmlns:a="http://schemas.openxmlformats.org/drawingml/2006/main" noGrp="1"/>
          </p:cNvSpPr>
          <p:nvPr/>
        </p:nvSpPr>
        <p:spPr>
          <a:xfrm xmlns:a="http://schemas.openxmlformats.org/drawingml/2006/main">
            <a:off x="400050" y="2286000"/>
            <a:ext cx="8001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5400">
                <a:solidFill>
                  <a:srgbClr val="0F172A"/>
                </a:solidFill>
              </a:defRPr>
            </a:pPr>
            <a:r>
              <a:rPr sz="5400">
                <a:solidFill>
                  <a:srgbClr val="0F172A"/>
                </a:solidFill>
              </a:rPr>
              <a:t>From Embedded Basics</a:t>
            </a:r>
          </a:p>
          <a:p xmlns:a="http://schemas.openxmlformats.org/drawingml/2006/main">
            <a:pPr>
              <a:defRPr sz="5400">
                <a:solidFill>
                  <a:srgbClr val="0F172A"/>
                </a:solidFill>
              </a:defRPr>
            </a:pPr>
            <a:r>
              <a:rPr sz="5400">
                <a:solidFill>
                  <a:srgbClr val="0F172A"/>
                </a:solidFill>
              </a:rPr>
              <a:t>to Working Robots</a:t>
            </a:r>
          </a:p>
        </p:txBody>
      </p:sp>
      <p:sp>
        <p:nvSpPr>
          <p:cNvPr id="4" name="subtitle">
            <a:extLst xmlns:a="http://schemas.openxmlformats.org/drawingml/2006/main">
              <a:ext uri="{FF2B5EF4-FFF2-40B4-BE49-F238E27FC236}">
                <a16:creationId xmlns:a16="http://schemas.microsoft.com/office/drawing/2014/main" id="{9C69989B-9BD4-467E-A087-63C9ED0AC9F6}"/>
              </a:ext>
            </a:extLst>
          </p:cNvPr>
          <p:cNvSpPr>
            <a:spLocks xmlns:a="http://schemas.openxmlformats.org/drawingml/2006/main" noGrp="1"/>
          </p:cNvSpPr>
          <p:nvPr/>
        </p:nvSpPr>
        <p:spPr>
          <a:xfrm xmlns:a="http://schemas.openxmlformats.org/drawingml/2006/main">
            <a:off x="400050" y="4810125"/>
            <a:ext cx="5143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a:solidFill>
                  <a:srgbClr val="334155"/>
                </a:solidFill>
              </a:defRPr>
            </a:pPr>
            <a:r>
              <a:rPr sz="1875">
                <a:solidFill>
                  <a:srgbClr val="334155"/>
                </a:solidFill>
              </a:rPr>
              <a:t>A 3-minute introduction to our club, our learning path, and two hands-on engineering projects.</a:t>
            </a:r>
          </a:p>
        </p:txBody>
      </p:sp>
      <p:sp>
        <p:nvSpPr>
          <p:cNvPr id="5" name="tag-STM32">
            <a:extLst xmlns:a="http://schemas.openxmlformats.org/drawingml/2006/main">
              <a:ext uri="{FF2B5EF4-FFF2-40B4-BE49-F238E27FC236}">
                <a16:creationId xmlns:a16="http://schemas.microsoft.com/office/drawing/2014/main" id="{AD86FDF9-C2C2-4BE2-800C-89E19841C216}"/>
              </a:ext>
            </a:extLst>
          </p:cNvPr>
          <p:cNvSpPr>
            <a:spLocks xmlns:a="http://schemas.openxmlformats.org/drawingml/2006/main" noGrp="1"/>
          </p:cNvSpPr>
          <p:nvPr/>
        </p:nvSpPr>
        <p:spPr>
          <a:xfrm xmlns:a="http://schemas.openxmlformats.org/drawingml/2006/main">
            <a:off x="8020050" y="5029200"/>
            <a:ext cx="1123950" cy="323850"/>
          </a:xfrm>
          <a:prstGeom xmlns:a="http://schemas.openxmlformats.org/drawingml/2006/main" prst="roundRect">
            <a:avLst>
              <a:gd name="adj" fmla="val 50000"/>
            </a:avLst>
          </a:prstGeom>
          <a:solidFill xmlns:a="http://schemas.openxmlformats.org/drawingml/2006/main">
            <a:srgbClr val="DCFC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66534"/>
                </a:solidFill>
              </a:defRPr>
            </a:pPr>
            <a:r>
              <a:rPr sz="1125" b="1">
                <a:solidFill>
                  <a:srgbClr val="166534"/>
                </a:solidFill>
              </a:rPr>
              <a:t>STM32</a:t>
            </a:r>
          </a:p>
        </p:txBody>
      </p:sp>
      <p:sp>
        <p:nvSpPr>
          <p:cNvPr id="6" name="tag-Arduino">
            <a:extLst xmlns:a="http://schemas.openxmlformats.org/drawingml/2006/main">
              <a:ext uri="{FF2B5EF4-FFF2-40B4-BE49-F238E27FC236}">
                <a16:creationId xmlns:a16="http://schemas.microsoft.com/office/drawing/2014/main" id="{85EB6CDB-1FBC-45BC-A64E-84D6942EE17A}"/>
              </a:ext>
            </a:extLst>
          </p:cNvPr>
          <p:cNvSpPr>
            <a:spLocks xmlns:a="http://schemas.openxmlformats.org/drawingml/2006/main" noGrp="1"/>
          </p:cNvSpPr>
          <p:nvPr/>
        </p:nvSpPr>
        <p:spPr>
          <a:xfrm xmlns:a="http://schemas.openxmlformats.org/drawingml/2006/main">
            <a:off x="9315450" y="5029200"/>
            <a:ext cx="1257300" cy="323850"/>
          </a:xfrm>
          <a:prstGeom xmlns:a="http://schemas.openxmlformats.org/drawingml/2006/main" prst="roundRect">
            <a:avLst>
              <a:gd name="adj" fmla="val 50000"/>
            </a:avLst>
          </a:prstGeom>
          <a:solidFill xmlns:a="http://schemas.openxmlformats.org/drawingml/2006/main">
            <a:srgbClr val="E0F2F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75985"/>
                </a:solidFill>
              </a:defRPr>
            </a:pPr>
            <a:r>
              <a:rPr sz="1125" b="1">
                <a:solidFill>
                  <a:srgbClr val="075985"/>
                </a:solidFill>
              </a:rPr>
              <a:t>Arduino</a:t>
            </a:r>
          </a:p>
        </p:txBody>
      </p:sp>
      <p:sp>
        <p:nvSpPr>
          <p:cNvPr id="7" name="tag-Robot Body">
            <a:extLst xmlns:a="http://schemas.openxmlformats.org/drawingml/2006/main">
              <a:ext uri="{FF2B5EF4-FFF2-40B4-BE49-F238E27FC236}">
                <a16:creationId xmlns:a16="http://schemas.microsoft.com/office/drawing/2014/main" id="{B05318A5-038E-43D7-9679-886868392FCE}"/>
              </a:ext>
            </a:extLst>
          </p:cNvPr>
          <p:cNvSpPr>
            <a:spLocks xmlns:a="http://schemas.openxmlformats.org/drawingml/2006/main" noGrp="1"/>
          </p:cNvSpPr>
          <p:nvPr/>
        </p:nvSpPr>
        <p:spPr>
          <a:xfrm xmlns:a="http://schemas.openxmlformats.org/drawingml/2006/main">
            <a:off x="8020050" y="5505450"/>
            <a:ext cx="1638300" cy="323850"/>
          </a:xfrm>
          <a:prstGeom xmlns:a="http://schemas.openxmlformats.org/drawingml/2006/main" prst="roundRect">
            <a:avLst>
              <a:gd name="adj" fmla="val 50000"/>
            </a:avLst>
          </a:prstGeom>
          <a:solidFill xmlns:a="http://schemas.openxmlformats.org/drawingml/2006/main">
            <a:srgbClr val="FEF3C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92400E"/>
                </a:solidFill>
              </a:defRPr>
            </a:pPr>
            <a:r>
              <a:rPr sz="1125" b="1">
                <a:solidFill>
                  <a:srgbClr val="92400E"/>
                </a:solidFill>
              </a:rPr>
              <a:t>Robot Body</a:t>
            </a:r>
          </a:p>
        </p:txBody>
      </p:sp>
      <p:sp>
        <p:nvSpPr>
          <p:cNvPr id="8" name="tag-ROS 2">
            <a:extLst xmlns:a="http://schemas.openxmlformats.org/drawingml/2006/main">
              <a:ext uri="{FF2B5EF4-FFF2-40B4-BE49-F238E27FC236}">
                <a16:creationId xmlns:a16="http://schemas.microsoft.com/office/drawing/2014/main" id="{7356CCB0-0626-4AAF-9B2E-75D97A3722AB}"/>
              </a:ext>
            </a:extLst>
          </p:cNvPr>
          <p:cNvSpPr>
            <a:spLocks xmlns:a="http://schemas.openxmlformats.org/drawingml/2006/main" noGrp="1"/>
          </p:cNvSpPr>
          <p:nvPr/>
        </p:nvSpPr>
        <p:spPr>
          <a:xfrm xmlns:a="http://schemas.openxmlformats.org/drawingml/2006/main">
            <a:off x="9810750" y="5505450"/>
            <a:ext cx="1028700" cy="323850"/>
          </a:xfrm>
          <a:prstGeom xmlns:a="http://schemas.openxmlformats.org/drawingml/2006/main" prst="roundRect">
            <a:avLst>
              <a:gd name="adj" fmla="val 50000"/>
            </a:avLst>
          </a:prstGeom>
          <a:solidFill xmlns:a="http://schemas.openxmlformats.org/drawingml/2006/main">
            <a:srgbClr val="EDE9F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5B21B6"/>
                </a:solidFill>
              </a:defRPr>
            </a:pPr>
            <a:r>
              <a:rPr sz="1125" b="1">
                <a:solidFill>
                  <a:srgbClr val="5B21B6"/>
                </a:solidFill>
              </a:rPr>
              <a:t>ROS 2</a:t>
            </a:r>
          </a:p>
        </p:txBody>
      </p:sp>
      <p:sp>
        <p:nvSpPr>
          <p:cNvPr id="9" name="footer-1">
            <a:extLst xmlns:a="http://schemas.openxmlformats.org/drawingml/2006/main">
              <a:ext uri="{FF2B5EF4-FFF2-40B4-BE49-F238E27FC236}">
                <a16:creationId xmlns:a16="http://schemas.microsoft.com/office/drawing/2014/main" id="{B110E2F2-466D-4DA5-941D-304AB75646B9}"/>
              </a:ext>
            </a:extLst>
          </p:cNvPr>
          <p:cNvSpPr>
            <a:spLocks xmlns:a="http://schemas.openxmlformats.org/drawingml/2006/main" noGrp="1"/>
          </p:cNvSpPr>
          <p:nvPr/>
        </p:nvSpPr>
        <p:spPr>
          <a:xfrm xmlns:a="http://schemas.openxmlformats.org/drawingml/2006/main">
            <a:off x="495300" y="63055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B7280"/>
                </a:solidFill>
              </a:defRPr>
            </a:pPr>
            <a:r>
              <a:rPr sz="975">
                <a:solidFill>
                  <a:srgbClr val="6B7280"/>
                </a:solidFill>
              </a:rPr>
              <a:t>Robotics &amp; Embedded Systems Club  |  1/6</a:t>
            </a:r>
          </a:p>
        </p:txBody>
      </p:sp>
    </p:spTree>
    <p:extLst>
      <p:ext uri="{BB962C8B-B14F-4D97-AF65-F5344CB8AC3E}">
        <p14:creationId xmlns:p14="http://schemas.microsoft.com/office/powerpoint/2010/main" val="830548495"/>
      </p:ext>
    </p:extLst>
  </p:cSld>
</p:sld>
</file>

<file path=ppt/slides/slide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4D8CD16F-82BA-4D62-B06B-92FCADB92EDB}"/>
              </a:ext>
            </a:extLst>
          </p:cNvPr>
          <p:cNvSpPr>
            <a:spLocks xmlns:a="http://schemas.openxmlformats.org/drawingml/2006/main" noGrp="1"/>
          </p:cNvSpPr>
          <p:nvPr/>
        </p:nvSpPr>
        <p:spPr>
          <a:xfrm xmlns:a="http://schemas.openxmlformats.org/drawingml/2006/main">
            <a:off x="400050" y="361950"/>
            <a:ext cx="723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a:solidFill>
                  <a:srgbClr val="111827"/>
                </a:solidFill>
              </a:defRPr>
            </a:pPr>
            <a:r>
              <a:rPr sz="3300">
                <a:solidFill>
                  <a:srgbClr val="111827"/>
                </a:solidFill>
              </a:rPr>
              <a:t>What Our Club Does</a:t>
            </a:r>
          </a:p>
        </p:txBody>
      </p:sp>
      <p:sp>
        <p:nvSpPr>
          <p:cNvPr id="2" name="intro-lead">
            <a:extLst xmlns:a="http://schemas.openxmlformats.org/drawingml/2006/main">
              <a:ext uri="{FF2B5EF4-FFF2-40B4-BE49-F238E27FC236}">
                <a16:creationId xmlns:a16="http://schemas.microsoft.com/office/drawing/2014/main" id="{D1FF824A-4858-44D1-8054-309B6E9D8310}"/>
              </a:ext>
            </a:extLst>
          </p:cNvPr>
          <p:cNvSpPr>
            <a:spLocks xmlns:a="http://schemas.openxmlformats.org/drawingml/2006/main" noGrp="1"/>
          </p:cNvSpPr>
          <p:nvPr/>
        </p:nvSpPr>
        <p:spPr>
          <a:xfrm xmlns:a="http://schemas.openxmlformats.org/drawingml/2006/main">
            <a:off x="400050" y="1971675"/>
            <a:ext cx="514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111827"/>
                </a:solidFill>
              </a:defRPr>
            </a:pPr>
            <a:r>
              <a:rPr sz="1800">
                <a:solidFill>
                  <a:srgbClr val="111827"/>
                </a:solidFill>
              </a:rPr>
              <a:t>We build a bridge from basic electronics lessons to complete, testable prototypes.</a:t>
            </a:r>
          </a:p>
        </p:txBody>
      </p:sp>
      <p:sp>
        <p:nvSpPr>
          <p:cNvPr id="3" name="intro-body">
            <a:extLst xmlns:a="http://schemas.openxmlformats.org/drawingml/2006/main">
              <a:ext uri="{FF2B5EF4-FFF2-40B4-BE49-F238E27FC236}">
                <a16:creationId xmlns:a16="http://schemas.microsoft.com/office/drawing/2014/main" id="{385AA029-2BEB-4621-9B70-EC10EF69E050}"/>
              </a:ext>
            </a:extLst>
          </p:cNvPr>
          <p:cNvSpPr>
            <a:spLocks xmlns:a="http://schemas.openxmlformats.org/drawingml/2006/main" noGrp="1"/>
          </p:cNvSpPr>
          <p:nvPr/>
        </p:nvSpPr>
        <p:spPr>
          <a:xfrm xmlns:a="http://schemas.openxmlformats.org/drawingml/2006/main">
            <a:off x="400050" y="2895600"/>
            <a:ext cx="52197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374151"/>
                </a:solidFill>
              </a:defRPr>
            </a:pPr>
            <a:r>
              <a:rPr sz="1575">
                <a:solidFill>
                  <a:srgbClr val="374151"/>
                </a:solidFill>
              </a:rPr>
              <a:t>So far, our foundation work has focused on microcontroller programming, sensor input, motor/output control, simple debugging, and turning a circuit idea into a physical system.</a:t>
            </a:r>
          </a:p>
        </p:txBody>
      </p:sp>
      <p:sp>
        <p:nvSpPr>
          <p:cNvPr id="4" name="card-STM32 Basics">
            <a:extLst xmlns:a="http://schemas.openxmlformats.org/drawingml/2006/main">
              <a:ext uri="{FF2B5EF4-FFF2-40B4-BE49-F238E27FC236}">
                <a16:creationId xmlns:a16="http://schemas.microsoft.com/office/drawing/2014/main" id="{058C2138-677E-4EA6-B0B4-EA89D36E0845}"/>
              </a:ext>
            </a:extLst>
          </p:cNvPr>
          <p:cNvSpPr>
            <a:spLocks xmlns:a="http://schemas.openxmlformats.org/drawingml/2006/main" noGrp="1"/>
          </p:cNvSpPr>
          <p:nvPr/>
        </p:nvSpPr>
        <p:spPr>
          <a:xfrm xmlns:a="http://schemas.openxmlformats.org/drawingml/2006/main">
            <a:off x="6257925" y="2028825"/>
            <a:ext cx="2581275" cy="3962400"/>
          </a:xfrm>
          <a:prstGeom xmlns:a="http://schemas.openxmlformats.org/drawingml/2006/main" prst="roundRect">
            <a:avLst>
              <a:gd name="adj" fmla="val 2952"/>
            </a:avLst>
          </a:prstGeom>
          <a:solidFill xmlns:a="http://schemas.openxmlformats.org/drawingml/2006/main">
            <a:srgbClr val="E7F0EA"/>
          </a:solidFill>
          <a:ln xmlns:a="http://schemas.openxmlformats.org/drawingml/2006/main" w="9525">
            <a:solidFill>
              <a:srgbClr val="D1D5DB"/>
            </a:solidFill>
            <a:prstDash val="solid"/>
          </a:ln>
        </p:spPr>
      </p:sp>
      <p:sp>
        <p:nvSpPr>
          <p:cNvPr id="5" name="card-title-STM32 Basics">
            <a:extLst xmlns:a="http://schemas.openxmlformats.org/drawingml/2006/main">
              <a:ext uri="{FF2B5EF4-FFF2-40B4-BE49-F238E27FC236}">
                <a16:creationId xmlns:a16="http://schemas.microsoft.com/office/drawing/2014/main" id="{EC064013-8A80-4933-A444-C93983D66B96}"/>
              </a:ext>
            </a:extLst>
          </p:cNvPr>
          <p:cNvSpPr>
            <a:spLocks xmlns:a="http://schemas.openxmlformats.org/drawingml/2006/main" noGrp="1"/>
          </p:cNvSpPr>
          <p:nvPr/>
        </p:nvSpPr>
        <p:spPr>
          <a:xfrm xmlns:a="http://schemas.openxmlformats.org/drawingml/2006/main">
            <a:off x="6505575" y="2295525"/>
            <a:ext cx="2085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11827"/>
                </a:solidFill>
              </a:defRPr>
            </a:pPr>
            <a:r>
              <a:rPr sz="1800" b="1">
                <a:solidFill>
                  <a:srgbClr val="111827"/>
                </a:solidFill>
              </a:rPr>
              <a:t>STM32 Basics</a:t>
            </a:r>
          </a:p>
        </p:txBody>
      </p:sp>
      <p:sp>
        <p:nvSpPr>
          <p:cNvPr id="6" name="card-rule-STM32 Basics">
            <a:extLst xmlns:a="http://schemas.openxmlformats.org/drawingml/2006/main">
              <a:ext uri="{FF2B5EF4-FFF2-40B4-BE49-F238E27FC236}">
                <a16:creationId xmlns:a16="http://schemas.microsoft.com/office/drawing/2014/main" id="{0717BE58-F962-4837-BF6A-45209B8BB778}"/>
              </a:ext>
            </a:extLst>
          </p:cNvPr>
          <p:cNvSpPr>
            <a:spLocks xmlns:a="http://schemas.openxmlformats.org/drawingml/2006/main" noGrp="1"/>
          </p:cNvSpPr>
          <p:nvPr/>
        </p:nvSpPr>
        <p:spPr>
          <a:xfrm xmlns:a="http://schemas.openxmlformats.org/drawingml/2006/main">
            <a:off x="6505575" y="2771775"/>
            <a:ext cx="495300" cy="38100"/>
          </a:xfrm>
          <a:prstGeom xmlns:a="http://schemas.openxmlformats.org/drawingml/2006/main" prst="rect">
            <a:avLst/>
          </a:prstGeom>
          <a:solidFill xmlns:a="http://schemas.openxmlformats.org/drawingml/2006/main">
            <a:srgbClr val="15803D"/>
          </a:solidFill>
          <a:ln xmlns:a="http://schemas.openxmlformats.org/drawingml/2006/main" w="0">
            <a:noFill/>
            <a:prstDash val="solid"/>
          </a:ln>
        </p:spPr>
      </p:sp>
      <p:sp>
        <p:nvSpPr>
          <p:cNvPr id="7" name="card-body-STM32 Basics">
            <a:extLst xmlns:a="http://schemas.openxmlformats.org/drawingml/2006/main">
              <a:ext uri="{FF2B5EF4-FFF2-40B4-BE49-F238E27FC236}">
                <a16:creationId xmlns:a16="http://schemas.microsoft.com/office/drawing/2014/main" id="{A441EA5F-7489-4256-BF3F-13DE9522A083}"/>
              </a:ext>
            </a:extLst>
          </p:cNvPr>
          <p:cNvSpPr>
            <a:spLocks xmlns:a="http://schemas.openxmlformats.org/drawingml/2006/main" noGrp="1"/>
          </p:cNvSpPr>
          <p:nvPr/>
        </p:nvSpPr>
        <p:spPr>
          <a:xfrm xmlns:a="http://schemas.openxmlformats.org/drawingml/2006/main">
            <a:off x="6505575" y="2962275"/>
            <a:ext cx="2085975"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374151"/>
                </a:solidFill>
              </a:defRPr>
            </a:pPr>
            <a:r>
              <a:rPr sz="1350">
                <a:solidFill>
                  <a:srgbClr val="374151"/>
                </a:solidFill>
              </a:rPr>
              <a:t>Board setup</a:t>
            </a:r>
          </a:p>
          <a:p xmlns:a="http://schemas.openxmlformats.org/drawingml/2006/main">
            <a:pPr>
              <a:defRPr sz="1350">
                <a:solidFill>
                  <a:srgbClr val="374151"/>
                </a:solidFill>
              </a:defRPr>
            </a:pPr>
            <a:r>
              <a:rPr sz="1350">
                <a:solidFill>
                  <a:srgbClr val="374151"/>
                </a:solidFill>
              </a:rPr>
              <a:t>GPIO and timing</a:t>
            </a:r>
          </a:p>
          <a:p xmlns:a="http://schemas.openxmlformats.org/drawingml/2006/main">
            <a:pPr>
              <a:defRPr sz="1350">
                <a:solidFill>
                  <a:srgbClr val="374151"/>
                </a:solidFill>
              </a:defRPr>
            </a:pPr>
            <a:r>
              <a:rPr sz="1350">
                <a:solidFill>
                  <a:srgbClr val="374151"/>
                </a:solidFill>
              </a:rPr>
              <a:t>Serial communication</a:t>
            </a:r>
          </a:p>
          <a:p xmlns:a="http://schemas.openxmlformats.org/drawingml/2006/main">
            <a:pPr>
              <a:defRPr sz="1350">
                <a:solidFill>
                  <a:srgbClr val="374151"/>
                </a:solidFill>
              </a:defRPr>
            </a:pPr>
            <a:r>
              <a:rPr sz="1350">
                <a:solidFill>
                  <a:srgbClr val="374151"/>
                </a:solidFill>
              </a:rPr>
              <a:t>Motor/control thinking</a:t>
            </a:r>
          </a:p>
        </p:txBody>
      </p:sp>
      <p:sp>
        <p:nvSpPr>
          <p:cNvPr id="8" name="card-Arduino Basics">
            <a:extLst xmlns:a="http://schemas.openxmlformats.org/drawingml/2006/main">
              <a:ext uri="{FF2B5EF4-FFF2-40B4-BE49-F238E27FC236}">
                <a16:creationId xmlns:a16="http://schemas.microsoft.com/office/drawing/2014/main" id="{E9CEEB16-8B6A-4390-B2A1-0267CA17A9DB}"/>
              </a:ext>
            </a:extLst>
          </p:cNvPr>
          <p:cNvSpPr>
            <a:spLocks xmlns:a="http://schemas.openxmlformats.org/drawingml/2006/main" noGrp="1"/>
          </p:cNvSpPr>
          <p:nvPr/>
        </p:nvSpPr>
        <p:spPr>
          <a:xfrm xmlns:a="http://schemas.openxmlformats.org/drawingml/2006/main">
            <a:off x="9201150" y="2028825"/>
            <a:ext cx="2600325" cy="3962400"/>
          </a:xfrm>
          <a:prstGeom xmlns:a="http://schemas.openxmlformats.org/drawingml/2006/main" prst="roundRect">
            <a:avLst>
              <a:gd name="adj" fmla="val 2930"/>
            </a:avLst>
          </a:prstGeom>
          <a:solidFill xmlns:a="http://schemas.openxmlformats.org/drawingml/2006/main">
            <a:srgbClr val="E8F3F6"/>
          </a:solidFill>
          <a:ln xmlns:a="http://schemas.openxmlformats.org/drawingml/2006/main" w="9525">
            <a:solidFill>
              <a:srgbClr val="D1D5DB"/>
            </a:solidFill>
            <a:prstDash val="solid"/>
          </a:ln>
        </p:spPr>
      </p:sp>
      <p:sp>
        <p:nvSpPr>
          <p:cNvPr id="9" name="card-title-Arduino Basics">
            <a:extLst xmlns:a="http://schemas.openxmlformats.org/drawingml/2006/main">
              <a:ext uri="{FF2B5EF4-FFF2-40B4-BE49-F238E27FC236}">
                <a16:creationId xmlns:a16="http://schemas.microsoft.com/office/drawing/2014/main" id="{2FAE6673-D678-4802-B609-0E136BD27D3B}"/>
              </a:ext>
            </a:extLst>
          </p:cNvPr>
          <p:cNvSpPr>
            <a:spLocks xmlns:a="http://schemas.openxmlformats.org/drawingml/2006/main" noGrp="1"/>
          </p:cNvSpPr>
          <p:nvPr/>
        </p:nvSpPr>
        <p:spPr>
          <a:xfrm xmlns:a="http://schemas.openxmlformats.org/drawingml/2006/main">
            <a:off x="9448800" y="2295525"/>
            <a:ext cx="2105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11827"/>
                </a:solidFill>
              </a:defRPr>
            </a:pPr>
            <a:r>
              <a:rPr sz="1800" b="1">
                <a:solidFill>
                  <a:srgbClr val="111827"/>
                </a:solidFill>
              </a:rPr>
              <a:t>Arduino Basics</a:t>
            </a:r>
          </a:p>
        </p:txBody>
      </p:sp>
      <p:sp>
        <p:nvSpPr>
          <p:cNvPr id="10" name="card-rule-Arduino Basics">
            <a:extLst xmlns:a="http://schemas.openxmlformats.org/drawingml/2006/main">
              <a:ext uri="{FF2B5EF4-FFF2-40B4-BE49-F238E27FC236}">
                <a16:creationId xmlns:a16="http://schemas.microsoft.com/office/drawing/2014/main" id="{13CDF31E-6F20-43BA-8C8F-2E6E141387BA}"/>
              </a:ext>
            </a:extLst>
          </p:cNvPr>
          <p:cNvSpPr>
            <a:spLocks xmlns:a="http://schemas.openxmlformats.org/drawingml/2006/main" noGrp="1"/>
          </p:cNvSpPr>
          <p:nvPr/>
        </p:nvSpPr>
        <p:spPr>
          <a:xfrm xmlns:a="http://schemas.openxmlformats.org/drawingml/2006/main">
            <a:off x="9448800" y="2771775"/>
            <a:ext cx="495300" cy="38100"/>
          </a:xfrm>
          <a:prstGeom xmlns:a="http://schemas.openxmlformats.org/drawingml/2006/main" prst="rect">
            <a:avLst/>
          </a:prstGeom>
          <a:solidFill xmlns:a="http://schemas.openxmlformats.org/drawingml/2006/main">
            <a:srgbClr val="0284C7"/>
          </a:solidFill>
          <a:ln xmlns:a="http://schemas.openxmlformats.org/drawingml/2006/main" w="0">
            <a:noFill/>
            <a:prstDash val="solid"/>
          </a:ln>
        </p:spPr>
      </p:sp>
      <p:sp>
        <p:nvSpPr>
          <p:cNvPr id="11" name="card-body-Arduino Basics">
            <a:extLst xmlns:a="http://schemas.openxmlformats.org/drawingml/2006/main">
              <a:ext uri="{FF2B5EF4-FFF2-40B4-BE49-F238E27FC236}">
                <a16:creationId xmlns:a16="http://schemas.microsoft.com/office/drawing/2014/main" id="{0A767146-E1CD-4882-8D0F-FF2AE14AE210}"/>
              </a:ext>
            </a:extLst>
          </p:cNvPr>
          <p:cNvSpPr>
            <a:spLocks xmlns:a="http://schemas.openxmlformats.org/drawingml/2006/main" noGrp="1"/>
          </p:cNvSpPr>
          <p:nvPr/>
        </p:nvSpPr>
        <p:spPr>
          <a:xfrm xmlns:a="http://schemas.openxmlformats.org/drawingml/2006/main">
            <a:off x="9448800" y="2962275"/>
            <a:ext cx="2105025"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374151"/>
                </a:solidFill>
              </a:defRPr>
            </a:pPr>
            <a:r>
              <a:rPr sz="1350">
                <a:solidFill>
                  <a:srgbClr val="374151"/>
                </a:solidFill>
              </a:rPr>
              <a:t>Sensor reading</a:t>
            </a:r>
          </a:p>
          <a:p xmlns:a="http://schemas.openxmlformats.org/drawingml/2006/main">
            <a:pPr>
              <a:defRPr sz="1350">
                <a:solidFill>
                  <a:srgbClr val="374151"/>
                </a:solidFill>
              </a:defRPr>
            </a:pPr>
            <a:r>
              <a:rPr sz="1350">
                <a:solidFill>
                  <a:srgbClr val="374151"/>
                </a:solidFill>
              </a:rPr>
              <a:t>Relay/output control</a:t>
            </a:r>
          </a:p>
          <a:p xmlns:a="http://schemas.openxmlformats.org/drawingml/2006/main">
            <a:pPr>
              <a:defRPr sz="1350">
                <a:solidFill>
                  <a:srgbClr val="374151"/>
                </a:solidFill>
              </a:defRPr>
            </a:pPr>
            <a:r>
              <a:rPr sz="1350">
                <a:solidFill>
                  <a:srgbClr val="374151"/>
                </a:solidFill>
              </a:rPr>
              <a:t>Prototype wiring</a:t>
            </a:r>
          </a:p>
          <a:p xmlns:a="http://schemas.openxmlformats.org/drawingml/2006/main">
            <a:pPr>
              <a:defRPr sz="1350">
                <a:solidFill>
                  <a:srgbClr val="374151"/>
                </a:solidFill>
              </a:defRPr>
            </a:pPr>
            <a:r>
              <a:rPr sz="1350">
                <a:solidFill>
                  <a:srgbClr val="374151"/>
                </a:solidFill>
              </a:rPr>
              <a:t>Real-world automation</a:t>
            </a:r>
          </a:p>
        </p:txBody>
      </p:sp>
      <p:sp>
        <p:nvSpPr>
          <p:cNvPr id="12" name="footer-2">
            <a:extLst xmlns:a="http://schemas.openxmlformats.org/drawingml/2006/main">
              <a:ext uri="{FF2B5EF4-FFF2-40B4-BE49-F238E27FC236}">
                <a16:creationId xmlns:a16="http://schemas.microsoft.com/office/drawing/2014/main" id="{448B6880-AEF9-4B04-8D47-3761EAE586DC}"/>
              </a:ext>
            </a:extLst>
          </p:cNvPr>
          <p:cNvSpPr>
            <a:spLocks xmlns:a="http://schemas.openxmlformats.org/drawingml/2006/main" noGrp="1"/>
          </p:cNvSpPr>
          <p:nvPr/>
        </p:nvSpPr>
        <p:spPr>
          <a:xfrm xmlns:a="http://schemas.openxmlformats.org/drawingml/2006/main">
            <a:off x="495300" y="63055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B7280"/>
                </a:solidFill>
              </a:defRPr>
            </a:pPr>
            <a:r>
              <a:rPr sz="975">
                <a:solidFill>
                  <a:srgbClr val="6B7280"/>
                </a:solidFill>
              </a:rPr>
              <a:t>Robotics &amp; Embedded Systems Club  |  2/6</a:t>
            </a:r>
          </a:p>
        </p:txBody>
      </p:sp>
    </p:spTree>
    <p:extLst>
      <p:ext uri="{BB962C8B-B14F-4D97-AF65-F5344CB8AC3E}">
        <p14:creationId xmlns:p14="http://schemas.microsoft.com/office/powerpoint/2010/main" val="1157315701"/>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FFB7A374-33C2-4320-8453-26C2B2D96D55}"/>
              </a:ext>
            </a:extLst>
          </p:cNvPr>
          <p:cNvSpPr>
            <a:spLocks xmlns:a="http://schemas.openxmlformats.org/drawingml/2006/main" noGrp="1"/>
          </p:cNvSpPr>
          <p:nvPr/>
        </p:nvSpPr>
        <p:spPr>
          <a:xfrm xmlns:a="http://schemas.openxmlformats.org/drawingml/2006/main">
            <a:off x="400050" y="361950"/>
            <a:ext cx="952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a:solidFill>
                  <a:srgbClr val="111827"/>
                </a:solidFill>
              </a:defRPr>
            </a:pPr>
            <a:r>
              <a:rPr sz="3150">
                <a:solidFill>
                  <a:srgbClr val="111827"/>
                </a:solidFill>
              </a:rPr>
              <a:t>Project 1: Cindy's Automatic Watering System</a:t>
            </a:r>
          </a:p>
        </p:txBody>
      </p:sp>
      <p:sp>
        <p:nvSpPr>
          <p:cNvPr id="2" name="project-lead">
            <a:extLst xmlns:a="http://schemas.openxmlformats.org/drawingml/2006/main">
              <a:ext uri="{FF2B5EF4-FFF2-40B4-BE49-F238E27FC236}">
                <a16:creationId xmlns:a16="http://schemas.microsoft.com/office/drawing/2014/main" id="{660CCB93-5957-4CA1-84C7-6C0A6620185F}"/>
              </a:ext>
            </a:extLst>
          </p:cNvPr>
          <p:cNvSpPr>
            <a:spLocks xmlns:a="http://schemas.openxmlformats.org/drawingml/2006/main" noGrp="1"/>
          </p:cNvSpPr>
          <p:nvPr/>
        </p:nvSpPr>
        <p:spPr>
          <a:xfrm xmlns:a="http://schemas.openxmlformats.org/drawingml/2006/main">
            <a:off x="400050" y="1971675"/>
            <a:ext cx="5314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111827"/>
                </a:solidFill>
              </a:defRPr>
            </a:pPr>
            <a:r>
              <a:rPr sz="1800">
                <a:solidFill>
                  <a:srgbClr val="111827"/>
                </a:solidFill>
              </a:rPr>
              <a:t>The Arduino lecture becomes a useful daily-life prototype.</a:t>
            </a:r>
          </a:p>
        </p:txBody>
      </p:sp>
      <p:sp>
        <p:nvSpPr>
          <p:cNvPr id="3" name="project-body">
            <a:extLst xmlns:a="http://schemas.openxmlformats.org/drawingml/2006/main">
              <a:ext uri="{FF2B5EF4-FFF2-40B4-BE49-F238E27FC236}">
                <a16:creationId xmlns:a16="http://schemas.microsoft.com/office/drawing/2014/main" id="{6E7A0FE6-8979-4831-9484-A6F669301D08}"/>
              </a:ext>
            </a:extLst>
          </p:cNvPr>
          <p:cNvSpPr>
            <a:spLocks xmlns:a="http://schemas.openxmlformats.org/drawingml/2006/main" noGrp="1"/>
          </p:cNvSpPr>
          <p:nvPr/>
        </p:nvSpPr>
        <p:spPr>
          <a:xfrm xmlns:a="http://schemas.openxmlformats.org/drawingml/2006/main">
            <a:off x="400050" y="2781300"/>
            <a:ext cx="5314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374151"/>
                </a:solidFill>
              </a:defRPr>
            </a:pPr>
            <a:r>
              <a:rPr sz="1500">
                <a:solidFill>
                  <a:srgbClr val="374151"/>
                </a:solidFill>
              </a:rPr>
              <a:t>It reads soil moisture under the surface and only waters when moisture falls below the normal threshold. The design helps plants survive during long trips, reduces difficulty for older people, and avoids wasting water in everyday irrigation.</a:t>
            </a:r>
          </a:p>
        </p:txBody>
      </p:sp>
      <p:sp>
        <p:nvSpPr>
          <p:cNvPr id="4" name="card-Process">
            <a:extLst xmlns:a="http://schemas.openxmlformats.org/drawingml/2006/main">
              <a:ext uri="{FF2B5EF4-FFF2-40B4-BE49-F238E27FC236}">
                <a16:creationId xmlns:a16="http://schemas.microsoft.com/office/drawing/2014/main" id="{C9148C82-1DE5-4222-AFA6-ED1CBD889359}"/>
              </a:ext>
            </a:extLst>
          </p:cNvPr>
          <p:cNvSpPr>
            <a:spLocks xmlns:a="http://schemas.openxmlformats.org/drawingml/2006/main" noGrp="1"/>
          </p:cNvSpPr>
          <p:nvPr/>
        </p:nvSpPr>
        <p:spPr>
          <a:xfrm xmlns:a="http://schemas.openxmlformats.org/drawingml/2006/main">
            <a:off x="6257925" y="2028825"/>
            <a:ext cx="2581275" cy="3962400"/>
          </a:xfrm>
          <a:prstGeom xmlns:a="http://schemas.openxmlformats.org/drawingml/2006/main" prst="roundRect">
            <a:avLst>
              <a:gd name="adj" fmla="val 2952"/>
            </a:avLst>
          </a:prstGeom>
          <a:solidFill xmlns:a="http://schemas.openxmlformats.org/drawingml/2006/main">
            <a:srgbClr val="EDF7ED"/>
          </a:solidFill>
          <a:ln xmlns:a="http://schemas.openxmlformats.org/drawingml/2006/main" w="9525">
            <a:solidFill>
              <a:srgbClr val="D1D5DB"/>
            </a:solidFill>
            <a:prstDash val="solid"/>
          </a:ln>
        </p:spPr>
      </p:sp>
      <p:sp>
        <p:nvSpPr>
          <p:cNvPr id="5" name="card-title-Process">
            <a:extLst xmlns:a="http://schemas.openxmlformats.org/drawingml/2006/main">
              <a:ext uri="{FF2B5EF4-FFF2-40B4-BE49-F238E27FC236}">
                <a16:creationId xmlns:a16="http://schemas.microsoft.com/office/drawing/2014/main" id="{73A6D229-D2B0-44B6-B4C9-7E006479A92A}"/>
              </a:ext>
            </a:extLst>
          </p:cNvPr>
          <p:cNvSpPr>
            <a:spLocks xmlns:a="http://schemas.openxmlformats.org/drawingml/2006/main" noGrp="1"/>
          </p:cNvSpPr>
          <p:nvPr/>
        </p:nvSpPr>
        <p:spPr>
          <a:xfrm xmlns:a="http://schemas.openxmlformats.org/drawingml/2006/main">
            <a:off x="6505575" y="2295525"/>
            <a:ext cx="2085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11827"/>
                </a:solidFill>
              </a:defRPr>
            </a:pPr>
            <a:r>
              <a:rPr sz="1800" b="1">
                <a:solidFill>
                  <a:srgbClr val="111827"/>
                </a:solidFill>
              </a:rPr>
              <a:t>Process</a:t>
            </a:r>
          </a:p>
        </p:txBody>
      </p:sp>
      <p:sp>
        <p:nvSpPr>
          <p:cNvPr id="6" name="card-rule-Process">
            <a:extLst xmlns:a="http://schemas.openxmlformats.org/drawingml/2006/main">
              <a:ext uri="{FF2B5EF4-FFF2-40B4-BE49-F238E27FC236}">
                <a16:creationId xmlns:a16="http://schemas.microsoft.com/office/drawing/2014/main" id="{A1D40815-2A5C-4E43-8C6D-2E121C17C12B}"/>
              </a:ext>
            </a:extLst>
          </p:cNvPr>
          <p:cNvSpPr>
            <a:spLocks xmlns:a="http://schemas.openxmlformats.org/drawingml/2006/main" noGrp="1"/>
          </p:cNvSpPr>
          <p:nvPr/>
        </p:nvSpPr>
        <p:spPr>
          <a:xfrm xmlns:a="http://schemas.openxmlformats.org/drawingml/2006/main">
            <a:off x="6505575" y="2771775"/>
            <a:ext cx="495300" cy="38100"/>
          </a:xfrm>
          <a:prstGeom xmlns:a="http://schemas.openxmlformats.org/drawingml/2006/main" prst="rect">
            <a:avLst/>
          </a:prstGeom>
          <a:solidFill xmlns:a="http://schemas.openxmlformats.org/drawingml/2006/main">
            <a:srgbClr val="16A34A"/>
          </a:solidFill>
          <a:ln xmlns:a="http://schemas.openxmlformats.org/drawingml/2006/main" w="0">
            <a:noFill/>
            <a:prstDash val="solid"/>
          </a:ln>
        </p:spPr>
      </p:sp>
      <p:sp>
        <p:nvSpPr>
          <p:cNvPr id="7" name="card-body-Process">
            <a:extLst xmlns:a="http://schemas.openxmlformats.org/drawingml/2006/main">
              <a:ext uri="{FF2B5EF4-FFF2-40B4-BE49-F238E27FC236}">
                <a16:creationId xmlns:a16="http://schemas.microsoft.com/office/drawing/2014/main" id="{79905DC9-1C77-4191-B32D-576BBDA3C996}"/>
              </a:ext>
            </a:extLst>
          </p:cNvPr>
          <p:cNvSpPr>
            <a:spLocks xmlns:a="http://schemas.openxmlformats.org/drawingml/2006/main" noGrp="1"/>
          </p:cNvSpPr>
          <p:nvPr/>
        </p:nvSpPr>
        <p:spPr>
          <a:xfrm xmlns:a="http://schemas.openxmlformats.org/drawingml/2006/main">
            <a:off x="6505575" y="2962275"/>
            <a:ext cx="2085975"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374151"/>
                </a:solidFill>
              </a:defRPr>
            </a:pPr>
            <a:r>
              <a:rPr sz="1350">
                <a:solidFill>
                  <a:srgbClr val="374151"/>
                </a:solidFill>
              </a:rPr>
              <a:t>Built the main circuit</a:t>
            </a:r>
          </a:p>
          <a:p xmlns:a="http://schemas.openxmlformats.org/drawingml/2006/main">
            <a:pPr>
              <a:defRPr sz="1350">
                <a:solidFill>
                  <a:srgbClr val="374151"/>
                </a:solidFill>
              </a:defRPr>
            </a:pPr>
            <a:r>
              <a:rPr sz="1350">
                <a:solidFill>
                  <a:srgbClr val="374151"/>
                </a:solidFill>
              </a:rPr>
              <a:t>Connected sensor and pump control</a:t>
            </a:r>
          </a:p>
          <a:p xmlns:a="http://schemas.openxmlformats.org/drawingml/2006/main">
            <a:pPr>
              <a:defRPr sz="1350">
                <a:solidFill>
                  <a:srgbClr val="374151"/>
                </a:solidFill>
              </a:defRPr>
            </a:pPr>
            <a:r>
              <a:rPr sz="1350">
                <a:solidFill>
                  <a:srgbClr val="374151"/>
                </a:solidFill>
              </a:rPr>
              <a:t>Ran field tests and experiments</a:t>
            </a:r>
          </a:p>
        </p:txBody>
      </p:sp>
      <p:sp>
        <p:nvSpPr>
          <p:cNvPr id="8" name="card-Target Outcome">
            <a:extLst xmlns:a="http://schemas.openxmlformats.org/drawingml/2006/main">
              <a:ext uri="{FF2B5EF4-FFF2-40B4-BE49-F238E27FC236}">
                <a16:creationId xmlns:a16="http://schemas.microsoft.com/office/drawing/2014/main" id="{D089CEC8-D9D3-48EC-B0C7-BC50A243D0A3}"/>
              </a:ext>
            </a:extLst>
          </p:cNvPr>
          <p:cNvSpPr>
            <a:spLocks xmlns:a="http://schemas.openxmlformats.org/drawingml/2006/main" noGrp="1"/>
          </p:cNvSpPr>
          <p:nvPr/>
        </p:nvSpPr>
        <p:spPr>
          <a:xfrm xmlns:a="http://schemas.openxmlformats.org/drawingml/2006/main">
            <a:off x="9201150" y="2028825"/>
            <a:ext cx="2600325" cy="3962400"/>
          </a:xfrm>
          <a:prstGeom xmlns:a="http://schemas.openxmlformats.org/drawingml/2006/main" prst="roundRect">
            <a:avLst>
              <a:gd name="adj" fmla="val 2930"/>
            </a:avLst>
          </a:prstGeom>
          <a:solidFill xmlns:a="http://schemas.openxmlformats.org/drawingml/2006/main">
            <a:srgbClr val="E6F5F8"/>
          </a:solidFill>
          <a:ln xmlns:a="http://schemas.openxmlformats.org/drawingml/2006/main" w="9525">
            <a:solidFill>
              <a:srgbClr val="D1D5DB"/>
            </a:solidFill>
            <a:prstDash val="solid"/>
          </a:ln>
        </p:spPr>
      </p:sp>
      <p:sp>
        <p:nvSpPr>
          <p:cNvPr id="9" name="card-title-Target Outcome">
            <a:extLst xmlns:a="http://schemas.openxmlformats.org/drawingml/2006/main">
              <a:ext uri="{FF2B5EF4-FFF2-40B4-BE49-F238E27FC236}">
                <a16:creationId xmlns:a16="http://schemas.microsoft.com/office/drawing/2014/main" id="{7A28CB2E-236B-4588-9912-8D43FAF8A60B}"/>
              </a:ext>
            </a:extLst>
          </p:cNvPr>
          <p:cNvSpPr>
            <a:spLocks xmlns:a="http://schemas.openxmlformats.org/drawingml/2006/main" noGrp="1"/>
          </p:cNvSpPr>
          <p:nvPr/>
        </p:nvSpPr>
        <p:spPr>
          <a:xfrm xmlns:a="http://schemas.openxmlformats.org/drawingml/2006/main">
            <a:off x="9448800" y="2295525"/>
            <a:ext cx="2105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11827"/>
                </a:solidFill>
              </a:defRPr>
            </a:pPr>
            <a:r>
              <a:rPr sz="1800" b="1">
                <a:solidFill>
                  <a:srgbClr val="111827"/>
                </a:solidFill>
              </a:rPr>
              <a:t>Target Outcome</a:t>
            </a:r>
          </a:p>
        </p:txBody>
      </p:sp>
      <p:sp>
        <p:nvSpPr>
          <p:cNvPr id="10" name="card-rule-Target Outcome">
            <a:extLst xmlns:a="http://schemas.openxmlformats.org/drawingml/2006/main">
              <a:ext uri="{FF2B5EF4-FFF2-40B4-BE49-F238E27FC236}">
                <a16:creationId xmlns:a16="http://schemas.microsoft.com/office/drawing/2014/main" id="{011B6797-CB9A-44C6-9196-70E765B63997}"/>
              </a:ext>
            </a:extLst>
          </p:cNvPr>
          <p:cNvSpPr>
            <a:spLocks xmlns:a="http://schemas.openxmlformats.org/drawingml/2006/main" noGrp="1"/>
          </p:cNvSpPr>
          <p:nvPr/>
        </p:nvSpPr>
        <p:spPr>
          <a:xfrm xmlns:a="http://schemas.openxmlformats.org/drawingml/2006/main">
            <a:off x="9448800" y="2771775"/>
            <a:ext cx="495300" cy="38100"/>
          </a:xfrm>
          <a:prstGeom xmlns:a="http://schemas.openxmlformats.org/drawingml/2006/main" prst="rect">
            <a:avLst/>
          </a:prstGeom>
          <a:solidFill xmlns:a="http://schemas.openxmlformats.org/drawingml/2006/main">
            <a:srgbClr val="0891B2"/>
          </a:solidFill>
          <a:ln xmlns:a="http://schemas.openxmlformats.org/drawingml/2006/main" w="0">
            <a:noFill/>
            <a:prstDash val="solid"/>
          </a:ln>
        </p:spPr>
      </p:sp>
      <p:sp>
        <p:nvSpPr>
          <p:cNvPr id="11" name="card-body-Target Outcome">
            <a:extLst xmlns:a="http://schemas.openxmlformats.org/drawingml/2006/main">
              <a:ext uri="{FF2B5EF4-FFF2-40B4-BE49-F238E27FC236}">
                <a16:creationId xmlns:a16="http://schemas.microsoft.com/office/drawing/2014/main" id="{2D4924C0-1BBE-4B5A-911E-E6AC6629EF49}"/>
              </a:ext>
            </a:extLst>
          </p:cNvPr>
          <p:cNvSpPr>
            <a:spLocks xmlns:a="http://schemas.openxmlformats.org/drawingml/2006/main" noGrp="1"/>
          </p:cNvSpPr>
          <p:nvPr/>
        </p:nvSpPr>
        <p:spPr>
          <a:xfrm xmlns:a="http://schemas.openxmlformats.org/drawingml/2006/main">
            <a:off x="9448800" y="2962275"/>
            <a:ext cx="2105025"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74151"/>
                </a:solidFill>
              </a:defRPr>
            </a:pPr>
            <a:r>
              <a:rPr sz="1275">
                <a:solidFill>
                  <a:srgbClr val="374151"/>
                </a:solidFill>
              </a:rPr>
              <a:t>About 30% less water than manual watering</a:t>
            </a:r>
          </a:p>
          <a:p xmlns:a="http://schemas.openxmlformats.org/drawingml/2006/main">
            <a:pPr>
              <a:defRPr sz="1275">
                <a:solidFill>
                  <a:srgbClr val="374151"/>
                </a:solidFill>
              </a:defRPr>
            </a:pPr>
            <a:r>
              <a:rPr sz="1275">
                <a:solidFill>
                  <a:srgbClr val="374151"/>
                </a:solidFill>
              </a:rPr>
              <a:t>Runs with very little intervention</a:t>
            </a:r>
          </a:p>
          <a:p xmlns:a="http://schemas.openxmlformats.org/drawingml/2006/main">
            <a:pPr>
              <a:defRPr sz="1275">
                <a:solidFill>
                  <a:srgbClr val="374151"/>
                </a:solidFill>
              </a:defRPr>
            </a:pPr>
            <a:r>
              <a:rPr sz="1275">
                <a:solidFill>
                  <a:srgbClr val="374151"/>
                </a:solidFill>
              </a:rPr>
              <a:t>Manual adjustment no more than once per week</a:t>
            </a:r>
          </a:p>
        </p:txBody>
      </p:sp>
      <p:sp>
        <p:nvSpPr>
          <p:cNvPr id="12" name="footer-3">
            <a:extLst xmlns:a="http://schemas.openxmlformats.org/drawingml/2006/main">
              <a:ext uri="{FF2B5EF4-FFF2-40B4-BE49-F238E27FC236}">
                <a16:creationId xmlns:a16="http://schemas.microsoft.com/office/drawing/2014/main" id="{94DD14D2-D760-40A4-8E38-57441DE2666F}"/>
              </a:ext>
            </a:extLst>
          </p:cNvPr>
          <p:cNvSpPr>
            <a:spLocks xmlns:a="http://schemas.openxmlformats.org/drawingml/2006/main" noGrp="1"/>
          </p:cNvSpPr>
          <p:nvPr/>
        </p:nvSpPr>
        <p:spPr>
          <a:xfrm xmlns:a="http://schemas.openxmlformats.org/drawingml/2006/main">
            <a:off x="495300" y="63055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B7280"/>
                </a:solidFill>
              </a:defRPr>
            </a:pPr>
            <a:r>
              <a:rPr sz="975">
                <a:solidFill>
                  <a:srgbClr val="6B7280"/>
                </a:solidFill>
              </a:rPr>
              <a:t>Robotics &amp; Embedded Systems Club  |  3/6</a:t>
            </a:r>
          </a:p>
        </p:txBody>
      </p:sp>
    </p:spTree>
    <p:extLst>
      <p:ext uri="{BB962C8B-B14F-4D97-AF65-F5344CB8AC3E}">
        <p14:creationId xmlns:p14="http://schemas.microsoft.com/office/powerpoint/2010/main" val="1846753077"/>
      </p:ext>
    </p:extLst>
  </p:cSld>
</p:sld>
</file>

<file path=ppt/slides/slide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CB9D387E-AFEE-484E-B215-865313AB6143}"/>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a:solidFill>
                  <a:srgbClr val="111827"/>
                </a:solidFill>
              </a:defRPr>
            </a:pPr>
            <a:r>
              <a:rPr sz="3150">
                <a:solidFill>
                  <a:srgbClr val="111827"/>
                </a:solidFill>
              </a:rPr>
              <a:t>Project 2: From STM32 Board to Robot Body</a:t>
            </a:r>
          </a:p>
        </p:txBody>
      </p:sp>
      <p:sp>
        <p:nvSpPr>
          <p:cNvPr id="2" name="robot-summary">
            <a:extLst xmlns:a="http://schemas.openxmlformats.org/drawingml/2006/main">
              <a:ext uri="{FF2B5EF4-FFF2-40B4-BE49-F238E27FC236}">
                <a16:creationId xmlns:a16="http://schemas.microsoft.com/office/drawing/2014/main" id="{C4B00393-C0EC-402D-A968-7B2F14FF49F9}"/>
              </a:ext>
            </a:extLst>
          </p:cNvPr>
          <p:cNvSpPr>
            <a:spLocks xmlns:a="http://schemas.openxmlformats.org/drawingml/2006/main" noGrp="1"/>
          </p:cNvSpPr>
          <p:nvPr/>
        </p:nvSpPr>
        <p:spPr>
          <a:xfrm xmlns:a="http://schemas.openxmlformats.org/drawingml/2006/main">
            <a:off x="400050" y="1600200"/>
            <a:ext cx="876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34155"/>
                </a:solidFill>
              </a:defRPr>
            </a:pPr>
            <a:r>
              <a:rPr sz="1800">
                <a:solidFill>
                  <a:srgbClr val="334155"/>
                </a:solidFill>
              </a:rPr>
              <a:t>Outcome so far: a grounded robot workflow from firmware, through ROS 2 command topics, to physical mechanical parts.</a:t>
            </a:r>
          </a:p>
        </p:txBody>
      </p:sp>
      <p:sp>
        <p:nvSpPr>
          <p:cNvPr id="3" name="timeline-line">
            <a:extLst xmlns:a="http://schemas.openxmlformats.org/drawingml/2006/main">
              <a:ext uri="{FF2B5EF4-FFF2-40B4-BE49-F238E27FC236}">
                <a16:creationId xmlns:a16="http://schemas.microsoft.com/office/drawing/2014/main" id="{E9F6F4D6-DF45-4A59-9C6A-EAF4ED930A17}"/>
              </a:ext>
            </a:extLst>
          </p:cNvPr>
          <p:cNvSpPr>
            <a:spLocks xmlns:a="http://schemas.openxmlformats.org/drawingml/2006/main" noGrp="1"/>
          </p:cNvSpPr>
          <p:nvPr/>
        </p:nvSpPr>
        <p:spPr>
          <a:xfrm xmlns:a="http://schemas.openxmlformats.org/drawingml/2006/main">
            <a:off x="952500" y="3105150"/>
            <a:ext cx="10287000" cy="381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timeline-dot-0">
            <a:extLst xmlns:a="http://schemas.openxmlformats.org/drawingml/2006/main">
              <a:ext uri="{FF2B5EF4-FFF2-40B4-BE49-F238E27FC236}">
                <a16:creationId xmlns:a16="http://schemas.microsoft.com/office/drawing/2014/main" id="{C66A2E40-1283-45DD-8828-AF862EA86BE1}"/>
              </a:ext>
            </a:extLst>
          </p:cNvPr>
          <p:cNvSpPr>
            <a:spLocks xmlns:a="http://schemas.openxmlformats.org/drawingml/2006/main" noGrp="1"/>
          </p:cNvSpPr>
          <p:nvPr/>
        </p:nvSpPr>
        <p:spPr>
          <a:xfrm xmlns:a="http://schemas.openxmlformats.org/drawingml/2006/main">
            <a:off x="1790700" y="2962275"/>
            <a:ext cx="323850" cy="323850"/>
          </a:xfrm>
          <a:prstGeom xmlns:a="http://schemas.openxmlformats.org/drawingml/2006/main" prst="ellipse">
            <a:avLst/>
          </a:prstGeom>
          <a:solidFill xmlns:a="http://schemas.openxmlformats.org/drawingml/2006/main">
            <a:srgbClr val="22C55E"/>
          </a:solidFill>
          <a:ln xmlns:a="http://schemas.openxmlformats.org/drawingml/2006/main" w="28575">
            <a:solidFill>
              <a:srgbClr val="FFFFFF"/>
            </a:solidFill>
            <a:prstDash val="solid"/>
          </a:ln>
        </p:spPr>
      </p:sp>
      <p:sp>
        <p:nvSpPr>
          <p:cNvPr id="5" name="card-Controller">
            <a:extLst xmlns:a="http://schemas.openxmlformats.org/drawingml/2006/main">
              <a:ext uri="{FF2B5EF4-FFF2-40B4-BE49-F238E27FC236}">
                <a16:creationId xmlns:a16="http://schemas.microsoft.com/office/drawing/2014/main" id="{DB0917B9-1913-463F-A29E-99D3BA45BD71}"/>
              </a:ext>
            </a:extLst>
          </p:cNvPr>
          <p:cNvSpPr>
            <a:spLocks xmlns:a="http://schemas.openxmlformats.org/drawingml/2006/main" noGrp="1"/>
          </p:cNvSpPr>
          <p:nvPr/>
        </p:nvSpPr>
        <p:spPr>
          <a:xfrm xmlns:a="http://schemas.openxmlformats.org/drawingml/2006/main">
            <a:off x="666750" y="3562350"/>
            <a:ext cx="2571750" cy="2095500"/>
          </a:xfrm>
          <a:prstGeom xmlns:a="http://schemas.openxmlformats.org/drawingml/2006/main" prst="roundRect">
            <a:avLst>
              <a:gd name="adj" fmla="val 3636"/>
            </a:avLst>
          </a:prstGeom>
          <a:solidFill xmlns:a="http://schemas.openxmlformats.org/drawingml/2006/main">
            <a:srgbClr val="EDF7ED"/>
          </a:solidFill>
          <a:ln xmlns:a="http://schemas.openxmlformats.org/drawingml/2006/main" w="9525">
            <a:solidFill>
              <a:srgbClr val="D1D5DB"/>
            </a:solidFill>
            <a:prstDash val="solid"/>
          </a:ln>
        </p:spPr>
      </p:sp>
      <p:sp>
        <p:nvSpPr>
          <p:cNvPr id="6" name="card-title-Controller">
            <a:extLst xmlns:a="http://schemas.openxmlformats.org/drawingml/2006/main">
              <a:ext uri="{FF2B5EF4-FFF2-40B4-BE49-F238E27FC236}">
                <a16:creationId xmlns:a16="http://schemas.microsoft.com/office/drawing/2014/main" id="{7CA39D8D-45B4-4997-97DF-AEDED5AD9628}"/>
              </a:ext>
            </a:extLst>
          </p:cNvPr>
          <p:cNvSpPr>
            <a:spLocks xmlns:a="http://schemas.openxmlformats.org/drawingml/2006/main" noGrp="1"/>
          </p:cNvSpPr>
          <p:nvPr/>
        </p:nvSpPr>
        <p:spPr>
          <a:xfrm xmlns:a="http://schemas.openxmlformats.org/drawingml/2006/main">
            <a:off x="914400" y="3829050"/>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11827"/>
                </a:solidFill>
              </a:defRPr>
            </a:pPr>
            <a:r>
              <a:rPr sz="1800" b="1">
                <a:solidFill>
                  <a:srgbClr val="111827"/>
                </a:solidFill>
              </a:rPr>
              <a:t>Controller</a:t>
            </a:r>
          </a:p>
        </p:txBody>
      </p:sp>
      <p:sp>
        <p:nvSpPr>
          <p:cNvPr id="7" name="card-rule-Controller">
            <a:extLst xmlns:a="http://schemas.openxmlformats.org/drawingml/2006/main">
              <a:ext uri="{FF2B5EF4-FFF2-40B4-BE49-F238E27FC236}">
                <a16:creationId xmlns:a16="http://schemas.microsoft.com/office/drawing/2014/main" id="{A557D317-60D8-43E8-814A-081E0F7459A5}"/>
              </a:ext>
            </a:extLst>
          </p:cNvPr>
          <p:cNvSpPr>
            <a:spLocks xmlns:a="http://schemas.openxmlformats.org/drawingml/2006/main" noGrp="1"/>
          </p:cNvSpPr>
          <p:nvPr/>
        </p:nvSpPr>
        <p:spPr>
          <a:xfrm xmlns:a="http://schemas.openxmlformats.org/drawingml/2006/main">
            <a:off x="914400" y="4305300"/>
            <a:ext cx="495300" cy="38100"/>
          </a:xfrm>
          <a:prstGeom xmlns:a="http://schemas.openxmlformats.org/drawingml/2006/main" prst="rect">
            <a:avLst/>
          </a:prstGeom>
          <a:solidFill xmlns:a="http://schemas.openxmlformats.org/drawingml/2006/main">
            <a:srgbClr val="16A34A"/>
          </a:solidFill>
          <a:ln xmlns:a="http://schemas.openxmlformats.org/drawingml/2006/main" w="0">
            <a:noFill/>
            <a:prstDash val="solid"/>
          </a:ln>
        </p:spPr>
      </p:sp>
      <p:sp>
        <p:nvSpPr>
          <p:cNvPr id="8" name="card-body-Controller">
            <a:extLst xmlns:a="http://schemas.openxmlformats.org/drawingml/2006/main">
              <a:ext uri="{FF2B5EF4-FFF2-40B4-BE49-F238E27FC236}">
                <a16:creationId xmlns:a16="http://schemas.microsoft.com/office/drawing/2014/main" id="{662B6EFD-EDD2-4F4D-877B-82B4BAA14AB0}"/>
              </a:ext>
            </a:extLst>
          </p:cNvPr>
          <p:cNvSpPr>
            <a:spLocks xmlns:a="http://schemas.openxmlformats.org/drawingml/2006/main" noGrp="1"/>
          </p:cNvSpPr>
          <p:nvPr/>
        </p:nvSpPr>
        <p:spPr>
          <a:xfrm xmlns:a="http://schemas.openxmlformats.org/drawingml/2006/main">
            <a:off x="914400" y="4495800"/>
            <a:ext cx="20764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74151"/>
                </a:solidFill>
              </a:defRPr>
            </a:pPr>
            <a:r>
              <a:rPr sz="1275">
                <a:solidFill>
                  <a:srgbClr val="374151"/>
                </a:solidFill>
              </a:rPr>
              <a:t>Started from STM32-style board practice and embedded control fundamentals.</a:t>
            </a:r>
          </a:p>
        </p:txBody>
      </p:sp>
      <p:sp>
        <p:nvSpPr>
          <p:cNvPr id="9" name="timeline-dot-1">
            <a:extLst xmlns:a="http://schemas.openxmlformats.org/drawingml/2006/main">
              <a:ext uri="{FF2B5EF4-FFF2-40B4-BE49-F238E27FC236}">
                <a16:creationId xmlns:a16="http://schemas.microsoft.com/office/drawing/2014/main" id="{FB34C9A2-E054-4717-A225-3691AE3068C2}"/>
              </a:ext>
            </a:extLst>
          </p:cNvPr>
          <p:cNvSpPr>
            <a:spLocks xmlns:a="http://schemas.openxmlformats.org/drawingml/2006/main" noGrp="1"/>
          </p:cNvSpPr>
          <p:nvPr/>
        </p:nvSpPr>
        <p:spPr>
          <a:xfrm xmlns:a="http://schemas.openxmlformats.org/drawingml/2006/main">
            <a:off x="4838700" y="2962275"/>
            <a:ext cx="323850" cy="323850"/>
          </a:xfrm>
          <a:prstGeom xmlns:a="http://schemas.openxmlformats.org/drawingml/2006/main" prst="ellipse">
            <a:avLst/>
          </a:prstGeom>
          <a:solidFill xmlns:a="http://schemas.openxmlformats.org/drawingml/2006/main">
            <a:srgbClr val="0EA5E9"/>
          </a:solidFill>
          <a:ln xmlns:a="http://schemas.openxmlformats.org/drawingml/2006/main" w="28575">
            <a:solidFill>
              <a:srgbClr val="FFFFFF"/>
            </a:solidFill>
            <a:prstDash val="solid"/>
          </a:ln>
        </p:spPr>
      </p:sp>
      <p:sp>
        <p:nvSpPr>
          <p:cNvPr id="10" name="card-Firmware">
            <a:extLst xmlns:a="http://schemas.openxmlformats.org/drawingml/2006/main">
              <a:ext uri="{FF2B5EF4-FFF2-40B4-BE49-F238E27FC236}">
                <a16:creationId xmlns:a16="http://schemas.microsoft.com/office/drawing/2014/main" id="{12A5BB58-B4EE-41BF-966F-84BFF366B8BA}"/>
              </a:ext>
            </a:extLst>
          </p:cNvPr>
          <p:cNvSpPr>
            <a:spLocks xmlns:a="http://schemas.openxmlformats.org/drawingml/2006/main" noGrp="1"/>
          </p:cNvSpPr>
          <p:nvPr/>
        </p:nvSpPr>
        <p:spPr>
          <a:xfrm xmlns:a="http://schemas.openxmlformats.org/drawingml/2006/main">
            <a:off x="3714750" y="3562350"/>
            <a:ext cx="2571750" cy="2095500"/>
          </a:xfrm>
          <a:prstGeom xmlns:a="http://schemas.openxmlformats.org/drawingml/2006/main" prst="roundRect">
            <a:avLst>
              <a:gd name="adj" fmla="val 3636"/>
            </a:avLst>
          </a:prstGeom>
          <a:solidFill xmlns:a="http://schemas.openxmlformats.org/drawingml/2006/main">
            <a:srgbClr val="E8F4FA"/>
          </a:solidFill>
          <a:ln xmlns:a="http://schemas.openxmlformats.org/drawingml/2006/main" w="9525">
            <a:solidFill>
              <a:srgbClr val="D1D5DB"/>
            </a:solidFill>
            <a:prstDash val="solid"/>
          </a:ln>
        </p:spPr>
      </p:sp>
      <p:sp>
        <p:nvSpPr>
          <p:cNvPr id="11" name="card-title-Firmware">
            <a:extLst xmlns:a="http://schemas.openxmlformats.org/drawingml/2006/main">
              <a:ext uri="{FF2B5EF4-FFF2-40B4-BE49-F238E27FC236}">
                <a16:creationId xmlns:a16="http://schemas.microsoft.com/office/drawing/2014/main" id="{32B77292-45C0-4FE8-AA29-CC00EAA82594}"/>
              </a:ext>
            </a:extLst>
          </p:cNvPr>
          <p:cNvSpPr>
            <a:spLocks xmlns:a="http://schemas.openxmlformats.org/drawingml/2006/main" noGrp="1"/>
          </p:cNvSpPr>
          <p:nvPr/>
        </p:nvSpPr>
        <p:spPr>
          <a:xfrm xmlns:a="http://schemas.openxmlformats.org/drawingml/2006/main">
            <a:off x="3962400" y="3829050"/>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11827"/>
                </a:solidFill>
              </a:defRPr>
            </a:pPr>
            <a:r>
              <a:rPr sz="1800" b="1">
                <a:solidFill>
                  <a:srgbClr val="111827"/>
                </a:solidFill>
              </a:rPr>
              <a:t>Firmware</a:t>
            </a:r>
          </a:p>
        </p:txBody>
      </p:sp>
      <p:sp>
        <p:nvSpPr>
          <p:cNvPr id="12" name="card-rule-Firmware">
            <a:extLst xmlns:a="http://schemas.openxmlformats.org/drawingml/2006/main">
              <a:ext uri="{FF2B5EF4-FFF2-40B4-BE49-F238E27FC236}">
                <a16:creationId xmlns:a16="http://schemas.microsoft.com/office/drawing/2014/main" id="{A892766D-06AE-4BFA-94AB-89E7EB5FB22B}"/>
              </a:ext>
            </a:extLst>
          </p:cNvPr>
          <p:cNvSpPr>
            <a:spLocks xmlns:a="http://schemas.openxmlformats.org/drawingml/2006/main" noGrp="1"/>
          </p:cNvSpPr>
          <p:nvPr/>
        </p:nvSpPr>
        <p:spPr>
          <a:xfrm xmlns:a="http://schemas.openxmlformats.org/drawingml/2006/main">
            <a:off x="3962400" y="4305300"/>
            <a:ext cx="495300" cy="38100"/>
          </a:xfrm>
          <a:prstGeom xmlns:a="http://schemas.openxmlformats.org/drawingml/2006/main" prst="rect">
            <a:avLst/>
          </a:prstGeom>
          <a:solidFill xmlns:a="http://schemas.openxmlformats.org/drawingml/2006/main">
            <a:srgbClr val="0284C7"/>
          </a:solidFill>
          <a:ln xmlns:a="http://schemas.openxmlformats.org/drawingml/2006/main" w="0">
            <a:noFill/>
            <a:prstDash val="solid"/>
          </a:ln>
        </p:spPr>
      </p:sp>
      <p:sp>
        <p:nvSpPr>
          <p:cNvPr id="13" name="card-body-Firmware">
            <a:extLst xmlns:a="http://schemas.openxmlformats.org/drawingml/2006/main">
              <a:ext uri="{FF2B5EF4-FFF2-40B4-BE49-F238E27FC236}">
                <a16:creationId xmlns:a16="http://schemas.microsoft.com/office/drawing/2014/main" id="{B0526CD5-7CA8-44DA-9FE0-E9D14A74D2A0}"/>
              </a:ext>
            </a:extLst>
          </p:cNvPr>
          <p:cNvSpPr>
            <a:spLocks xmlns:a="http://schemas.openxmlformats.org/drawingml/2006/main" noGrp="1"/>
          </p:cNvSpPr>
          <p:nvPr/>
        </p:nvSpPr>
        <p:spPr>
          <a:xfrm xmlns:a="http://schemas.openxmlformats.org/drawingml/2006/main">
            <a:off x="3962400" y="4495800"/>
            <a:ext cx="20764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74151"/>
                </a:solidFill>
              </a:defRPr>
            </a:pPr>
            <a:r>
              <a:rPr sz="1275">
                <a:solidFill>
                  <a:srgbClr val="374151"/>
                </a:solidFill>
              </a:rPr>
              <a:t>Lower-controller code integrates motors, IMU attitude estimation, SBUS input, and serial communication.</a:t>
            </a:r>
          </a:p>
        </p:txBody>
      </p:sp>
      <p:sp>
        <p:nvSpPr>
          <p:cNvPr id="14" name="timeline-dot-2">
            <a:extLst xmlns:a="http://schemas.openxmlformats.org/drawingml/2006/main">
              <a:ext uri="{FF2B5EF4-FFF2-40B4-BE49-F238E27FC236}">
                <a16:creationId xmlns:a16="http://schemas.microsoft.com/office/drawing/2014/main" id="{24B6E4CB-F09E-4003-ADDB-20045E39BCAD}"/>
              </a:ext>
            </a:extLst>
          </p:cNvPr>
          <p:cNvSpPr>
            <a:spLocks xmlns:a="http://schemas.openxmlformats.org/drawingml/2006/main" noGrp="1"/>
          </p:cNvSpPr>
          <p:nvPr/>
        </p:nvSpPr>
        <p:spPr>
          <a:xfrm xmlns:a="http://schemas.openxmlformats.org/drawingml/2006/main">
            <a:off x="7886700" y="2962275"/>
            <a:ext cx="323850" cy="323850"/>
          </a:xfrm>
          <a:prstGeom xmlns:a="http://schemas.openxmlformats.org/drawingml/2006/main" prst="ellipse">
            <a:avLst/>
          </a:prstGeom>
          <a:solidFill xmlns:a="http://schemas.openxmlformats.org/drawingml/2006/main">
            <a:srgbClr val="F59E0B"/>
          </a:solidFill>
          <a:ln xmlns:a="http://schemas.openxmlformats.org/drawingml/2006/main" w="28575">
            <a:solidFill>
              <a:srgbClr val="FFFFFF"/>
            </a:solidFill>
            <a:prstDash val="solid"/>
          </a:ln>
        </p:spPr>
      </p:sp>
      <p:sp>
        <p:nvSpPr>
          <p:cNvPr id="15" name="card-Robot System">
            <a:extLst xmlns:a="http://schemas.openxmlformats.org/drawingml/2006/main">
              <a:ext uri="{FF2B5EF4-FFF2-40B4-BE49-F238E27FC236}">
                <a16:creationId xmlns:a16="http://schemas.microsoft.com/office/drawing/2014/main" id="{6B57920F-DEEC-459F-9B1D-FEEE3491D019}"/>
              </a:ext>
            </a:extLst>
          </p:cNvPr>
          <p:cNvSpPr>
            <a:spLocks xmlns:a="http://schemas.openxmlformats.org/drawingml/2006/main" noGrp="1"/>
          </p:cNvSpPr>
          <p:nvPr/>
        </p:nvSpPr>
        <p:spPr>
          <a:xfrm xmlns:a="http://schemas.openxmlformats.org/drawingml/2006/main">
            <a:off x="6762750" y="3562350"/>
            <a:ext cx="2571750" cy="2095500"/>
          </a:xfrm>
          <a:prstGeom xmlns:a="http://schemas.openxmlformats.org/drawingml/2006/main" prst="roundRect">
            <a:avLst>
              <a:gd name="adj" fmla="val 3636"/>
            </a:avLst>
          </a:prstGeom>
          <a:solidFill xmlns:a="http://schemas.openxmlformats.org/drawingml/2006/main">
            <a:srgbClr val="FFF2DC"/>
          </a:solidFill>
          <a:ln xmlns:a="http://schemas.openxmlformats.org/drawingml/2006/main" w="9525">
            <a:solidFill>
              <a:srgbClr val="D1D5DB"/>
            </a:solidFill>
            <a:prstDash val="solid"/>
          </a:ln>
        </p:spPr>
      </p:sp>
      <p:sp>
        <p:nvSpPr>
          <p:cNvPr id="16" name="card-title-Robot System">
            <a:extLst xmlns:a="http://schemas.openxmlformats.org/drawingml/2006/main">
              <a:ext uri="{FF2B5EF4-FFF2-40B4-BE49-F238E27FC236}">
                <a16:creationId xmlns:a16="http://schemas.microsoft.com/office/drawing/2014/main" id="{CF7737B3-CEE8-4624-9A8C-C7D0D5BFFFC1}"/>
              </a:ext>
            </a:extLst>
          </p:cNvPr>
          <p:cNvSpPr>
            <a:spLocks xmlns:a="http://schemas.openxmlformats.org/drawingml/2006/main" noGrp="1"/>
          </p:cNvSpPr>
          <p:nvPr/>
        </p:nvSpPr>
        <p:spPr>
          <a:xfrm xmlns:a="http://schemas.openxmlformats.org/drawingml/2006/main">
            <a:off x="7010400" y="3829050"/>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11827"/>
                </a:solidFill>
              </a:defRPr>
            </a:pPr>
            <a:r>
              <a:rPr sz="1800" b="1">
                <a:solidFill>
                  <a:srgbClr val="111827"/>
                </a:solidFill>
              </a:rPr>
              <a:t>Robot System</a:t>
            </a:r>
          </a:p>
        </p:txBody>
      </p:sp>
      <p:sp>
        <p:nvSpPr>
          <p:cNvPr id="17" name="card-rule-Robot System">
            <a:extLst xmlns:a="http://schemas.openxmlformats.org/drawingml/2006/main">
              <a:ext uri="{FF2B5EF4-FFF2-40B4-BE49-F238E27FC236}">
                <a16:creationId xmlns:a16="http://schemas.microsoft.com/office/drawing/2014/main" id="{F597F480-92E3-4F50-B45F-E50B9F10601A}"/>
              </a:ext>
            </a:extLst>
          </p:cNvPr>
          <p:cNvSpPr>
            <a:spLocks xmlns:a="http://schemas.openxmlformats.org/drawingml/2006/main" noGrp="1"/>
          </p:cNvSpPr>
          <p:nvPr/>
        </p:nvSpPr>
        <p:spPr>
          <a:xfrm xmlns:a="http://schemas.openxmlformats.org/drawingml/2006/main">
            <a:off x="7010400" y="4305300"/>
            <a:ext cx="495300" cy="3810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18" name="card-body-Robot System">
            <a:extLst xmlns:a="http://schemas.openxmlformats.org/drawingml/2006/main">
              <a:ext uri="{FF2B5EF4-FFF2-40B4-BE49-F238E27FC236}">
                <a16:creationId xmlns:a16="http://schemas.microsoft.com/office/drawing/2014/main" id="{97A8E87C-7707-4C94-B2CE-B98E4841F415}"/>
              </a:ext>
            </a:extLst>
          </p:cNvPr>
          <p:cNvSpPr>
            <a:spLocks xmlns:a="http://schemas.openxmlformats.org/drawingml/2006/main" noGrp="1"/>
          </p:cNvSpPr>
          <p:nvPr/>
        </p:nvSpPr>
        <p:spPr>
          <a:xfrm xmlns:a="http://schemas.openxmlformats.org/drawingml/2006/main">
            <a:off x="7010400" y="4495800"/>
            <a:ext cx="20764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74151"/>
                </a:solidFill>
              </a:defRPr>
            </a:pPr>
            <a:r>
              <a:rPr sz="1275">
                <a:solidFill>
                  <a:srgbClr val="374151"/>
                </a:solidFill>
              </a:rPr>
              <a:t>Iterated toward a wheel-foot robot with ROS 2 bridge, URDF/RViz visualization, and following logic.</a:t>
            </a:r>
          </a:p>
        </p:txBody>
      </p:sp>
      <p:sp>
        <p:nvSpPr>
          <p:cNvPr id="19" name="footer-4">
            <a:extLst xmlns:a="http://schemas.openxmlformats.org/drawingml/2006/main">
              <a:ext uri="{FF2B5EF4-FFF2-40B4-BE49-F238E27FC236}">
                <a16:creationId xmlns:a16="http://schemas.microsoft.com/office/drawing/2014/main" id="{CEA00701-4DA8-429E-8D51-189F3D0E93FB}"/>
              </a:ext>
            </a:extLst>
          </p:cNvPr>
          <p:cNvSpPr>
            <a:spLocks xmlns:a="http://schemas.openxmlformats.org/drawingml/2006/main" noGrp="1"/>
          </p:cNvSpPr>
          <p:nvPr/>
        </p:nvSpPr>
        <p:spPr>
          <a:xfrm xmlns:a="http://schemas.openxmlformats.org/drawingml/2006/main">
            <a:off x="495300" y="63055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B7280"/>
                </a:solidFill>
              </a:defRPr>
            </a:pPr>
            <a:r>
              <a:rPr sz="975">
                <a:solidFill>
                  <a:srgbClr val="6B7280"/>
                </a:solidFill>
              </a:rPr>
              <a:t>Robotics &amp; Embedded Systems Club  |  4/6</a:t>
            </a:r>
          </a:p>
        </p:txBody>
      </p:sp>
    </p:spTree>
    <p:extLst>
      <p:ext uri="{BB962C8B-B14F-4D97-AF65-F5344CB8AC3E}">
        <p14:creationId xmlns:p14="http://schemas.microsoft.com/office/powerpoint/2010/main" val="1642769557"/>
      </p:ext>
    </p:extLst>
  </p:cSld>
</p:sld>
</file>

<file path=ppt/slides/slide5.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3CF18304-0C54-4921-81C8-6D57ABA86CD5}"/>
              </a:ext>
            </a:extLst>
          </p:cNvPr>
          <p:cNvSpPr>
            <a:spLocks xmlns:a="http://schemas.openxmlformats.org/drawingml/2006/main" noGrp="1"/>
          </p:cNvSpPr>
          <p:nvPr/>
        </p:nvSpPr>
        <p:spPr>
          <a:xfrm xmlns:a="http://schemas.openxmlformats.org/drawingml/2006/main">
            <a:off x="400050" y="361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a:solidFill>
                  <a:srgbClr val="111827"/>
                </a:solidFill>
              </a:defRPr>
            </a:pPr>
            <a:r>
              <a:rPr sz="3150">
                <a:solidFill>
                  <a:srgbClr val="111827"/>
                </a:solidFill>
              </a:rPr>
              <a:t>Engineering Files: Parts That Become the Body</a:t>
            </a:r>
          </a:p>
        </p:txBody>
      </p:sp>
      <p:sp>
        <p:nvSpPr>
          <p:cNvPr id="2" name="stl-intro">
            <a:extLst xmlns:a="http://schemas.openxmlformats.org/drawingml/2006/main">
              <a:ext uri="{FF2B5EF4-FFF2-40B4-BE49-F238E27FC236}">
                <a16:creationId xmlns:a16="http://schemas.microsoft.com/office/drawing/2014/main" id="{3346AB44-5CC2-42F8-A251-A9CFAD648F2F}"/>
              </a:ext>
            </a:extLst>
          </p:cNvPr>
          <p:cNvSpPr>
            <a:spLocks xmlns:a="http://schemas.openxmlformats.org/drawingml/2006/main" noGrp="1"/>
          </p:cNvSpPr>
          <p:nvPr/>
        </p:nvSpPr>
        <p:spPr>
          <a:xfrm xmlns:a="http://schemas.openxmlformats.org/drawingml/2006/main">
            <a:off x="400050" y="1257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334155"/>
                </a:solidFill>
              </a:defRPr>
            </a:pPr>
            <a:r>
              <a:rPr sz="1650">
                <a:solidFill>
                  <a:srgbClr val="334155"/>
                </a:solidFill>
              </a:rPr>
              <a:t>These STL files are not decorations. They are printable mechanical resources used to move from a controller demo toward a complete robot structure.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30ac6f631304055"/>
          <a:srcRect xmlns:a="http://schemas.openxmlformats.org/drawingml/2006/main" l="0" t="159" r="0" b="159"/>
          <a:stretch xmlns:a="http://schemas.openxmlformats.org/drawingml/2006/main">
            <a:fillRect l="0" t="0" r="0" b="0"/>
          </a:stretch>
        </p:blipFill>
        <p:spPr>
          <a:xfrm xmlns:a="http://schemas.openxmlformats.org/drawingml/2006/main">
            <a:off x="457200" y="2133600"/>
            <a:ext cx="3143250" cy="2381250"/>
          </a:xfrm>
          <a:prstGeom xmlns:a="http://schemas.openxmlformats.org/drawingml/2006/main" prst="roundRect">
            <a:avLst>
              <a:gd name="adj" fmla="val 3200"/>
            </a:avLst>
          </a:prstGeom>
        </p:spPr>
      </p:pic>
      <p:sp>
        <p:nvSpPr>
          <p:cNvPr id="4" name="caption-back_shell.stl">
            <a:extLst xmlns:a="http://schemas.openxmlformats.org/drawingml/2006/main">
              <a:ext uri="{FF2B5EF4-FFF2-40B4-BE49-F238E27FC236}">
                <a16:creationId xmlns:a16="http://schemas.microsoft.com/office/drawing/2014/main" id="{04C95CF9-09CE-4DCF-8C76-C435F3E199B8}"/>
              </a:ext>
            </a:extLst>
          </p:cNvPr>
          <p:cNvSpPr>
            <a:spLocks xmlns:a="http://schemas.openxmlformats.org/drawingml/2006/main" noGrp="1"/>
          </p:cNvSpPr>
          <p:nvPr/>
        </p:nvSpPr>
        <p:spPr>
          <a:xfrm xmlns:a="http://schemas.openxmlformats.org/drawingml/2006/main">
            <a:off x="457200" y="46863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827"/>
                </a:solidFill>
              </a:defRPr>
            </a:pPr>
            <a:r>
              <a:rPr sz="1575" b="1">
                <a:solidFill>
                  <a:srgbClr val="111827"/>
                </a:solidFill>
              </a:rPr>
              <a:t>back_shell.stl</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de7c6adc67b4a97"/>
          <a:srcRect xmlns:a="http://schemas.openxmlformats.org/drawingml/2006/main" l="0" t="159" r="0" b="159"/>
          <a:stretch xmlns:a="http://schemas.openxmlformats.org/drawingml/2006/main">
            <a:fillRect l="0" t="0" r="0" b="0"/>
          </a:stretch>
        </p:blipFill>
        <p:spPr>
          <a:xfrm xmlns:a="http://schemas.openxmlformats.org/drawingml/2006/main">
            <a:off x="4333875" y="2133600"/>
            <a:ext cx="3143250" cy="2381250"/>
          </a:xfrm>
          <a:prstGeom xmlns:a="http://schemas.openxmlformats.org/drawingml/2006/main" prst="roundRect">
            <a:avLst>
              <a:gd name="adj" fmla="val 3200"/>
            </a:avLst>
          </a:prstGeom>
        </p:spPr>
      </p:pic>
      <p:sp>
        <p:nvSpPr>
          <p:cNvPr id="6" name="caption-bolt_pin.stl">
            <a:extLst xmlns:a="http://schemas.openxmlformats.org/drawingml/2006/main">
              <a:ext uri="{FF2B5EF4-FFF2-40B4-BE49-F238E27FC236}">
                <a16:creationId xmlns:a16="http://schemas.microsoft.com/office/drawing/2014/main" id="{DD006FDD-5522-4EA8-92BD-F0C7A473EDB0}"/>
              </a:ext>
            </a:extLst>
          </p:cNvPr>
          <p:cNvSpPr>
            <a:spLocks xmlns:a="http://schemas.openxmlformats.org/drawingml/2006/main" noGrp="1"/>
          </p:cNvSpPr>
          <p:nvPr/>
        </p:nvSpPr>
        <p:spPr>
          <a:xfrm xmlns:a="http://schemas.openxmlformats.org/drawingml/2006/main">
            <a:off x="4333875" y="46863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827"/>
                </a:solidFill>
              </a:defRPr>
            </a:pPr>
            <a:r>
              <a:rPr sz="1575" b="1">
                <a:solidFill>
                  <a:srgbClr val="111827"/>
                </a:solidFill>
              </a:rPr>
              <a:t>bolt_pin.stl</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cfa6b737be14aba"/>
          <a:srcRect xmlns:a="http://schemas.openxmlformats.org/drawingml/2006/main" l="0" t="159" r="0" b="159"/>
          <a:stretch xmlns:a="http://schemas.openxmlformats.org/drawingml/2006/main">
            <a:fillRect l="0" t="0" r="0" b="0"/>
          </a:stretch>
        </p:blipFill>
        <p:spPr>
          <a:xfrm xmlns:a="http://schemas.openxmlformats.org/drawingml/2006/main">
            <a:off x="8210550" y="2133600"/>
            <a:ext cx="3143250" cy="2381250"/>
          </a:xfrm>
          <a:prstGeom xmlns:a="http://schemas.openxmlformats.org/drawingml/2006/main" prst="roundRect">
            <a:avLst>
              <a:gd name="adj" fmla="val 3200"/>
            </a:avLst>
          </a:prstGeom>
        </p:spPr>
      </p:pic>
      <p:sp>
        <p:nvSpPr>
          <p:cNvPr id="8" name="caption-bracket_1.stl">
            <a:extLst xmlns:a="http://schemas.openxmlformats.org/drawingml/2006/main">
              <a:ext uri="{FF2B5EF4-FFF2-40B4-BE49-F238E27FC236}">
                <a16:creationId xmlns:a16="http://schemas.microsoft.com/office/drawing/2014/main" id="{948418D0-2180-4490-986A-407167AD236F}"/>
              </a:ext>
            </a:extLst>
          </p:cNvPr>
          <p:cNvSpPr>
            <a:spLocks xmlns:a="http://schemas.openxmlformats.org/drawingml/2006/main" noGrp="1"/>
          </p:cNvSpPr>
          <p:nvPr/>
        </p:nvSpPr>
        <p:spPr>
          <a:xfrm xmlns:a="http://schemas.openxmlformats.org/drawingml/2006/main">
            <a:off x="8210550" y="46863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827"/>
                </a:solidFill>
              </a:defRPr>
            </a:pPr>
            <a:r>
              <a:rPr sz="1575" b="1">
                <a:solidFill>
                  <a:srgbClr val="111827"/>
                </a:solidFill>
              </a:rPr>
              <a:t>bracket_1.stl</a:t>
            </a:r>
          </a:p>
        </p:txBody>
      </p:sp>
      <p:sp>
        <p:nvSpPr>
          <p:cNvPr id="9" name="stl-takeaway">
            <a:extLst xmlns:a="http://schemas.openxmlformats.org/drawingml/2006/main">
              <a:ext uri="{FF2B5EF4-FFF2-40B4-BE49-F238E27FC236}">
                <a16:creationId xmlns:a16="http://schemas.microsoft.com/office/drawing/2014/main" id="{05B6AE2E-AB64-494B-947E-F3B2AF1C6AA3}"/>
              </a:ext>
            </a:extLst>
          </p:cNvPr>
          <p:cNvSpPr>
            <a:spLocks xmlns:a="http://schemas.openxmlformats.org/drawingml/2006/main" noGrp="1"/>
          </p:cNvSpPr>
          <p:nvPr/>
        </p:nvSpPr>
        <p:spPr>
          <a:xfrm xmlns:a="http://schemas.openxmlformats.org/drawingml/2006/main">
            <a:off x="2247900" y="5381625"/>
            <a:ext cx="771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a:solidFill>
                  <a:srgbClr val="475569"/>
                </a:solidFill>
              </a:defRPr>
            </a:pPr>
            <a:r>
              <a:rPr sz="1725">
                <a:solidFill>
                  <a:srgbClr val="475569"/>
                </a:solidFill>
              </a:rPr>
              <a:t>Show these as the bridge from digital design to physical assembly.</a:t>
            </a:r>
          </a:p>
        </p:txBody>
      </p:sp>
      <p:sp>
        <p:nvSpPr>
          <p:cNvPr id="10" name="footer-5">
            <a:extLst xmlns:a="http://schemas.openxmlformats.org/drawingml/2006/main">
              <a:ext uri="{FF2B5EF4-FFF2-40B4-BE49-F238E27FC236}">
                <a16:creationId xmlns:a16="http://schemas.microsoft.com/office/drawing/2014/main" id="{49D39CF4-15AC-4AF7-9E8C-D143B9D51BF2}"/>
              </a:ext>
            </a:extLst>
          </p:cNvPr>
          <p:cNvSpPr>
            <a:spLocks xmlns:a="http://schemas.openxmlformats.org/drawingml/2006/main" noGrp="1"/>
          </p:cNvSpPr>
          <p:nvPr/>
        </p:nvSpPr>
        <p:spPr>
          <a:xfrm xmlns:a="http://schemas.openxmlformats.org/drawingml/2006/main">
            <a:off x="495300" y="63055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B7280"/>
                </a:solidFill>
              </a:defRPr>
            </a:pPr>
            <a:r>
              <a:rPr sz="975">
                <a:solidFill>
                  <a:srgbClr val="6B7280"/>
                </a:solidFill>
              </a:rPr>
              <a:t>Robotics &amp; Embedded Systems Club  |  5/6</a:t>
            </a:r>
          </a:p>
        </p:txBody>
      </p:sp>
    </p:spTree>
    <p:extLst>
      <p:ext uri="{BB962C8B-B14F-4D97-AF65-F5344CB8AC3E}">
        <p14:creationId xmlns:p14="http://schemas.microsoft.com/office/powerpoint/2010/main" val="1172476307"/>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FE621C78-ED12-4B75-8ACC-0090722495E5}"/>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a:solidFill>
                  <a:srgbClr val="111827"/>
                </a:solidFill>
              </a:defRPr>
            </a:pPr>
            <a:r>
              <a:rPr sz="3150">
                <a:solidFill>
                  <a:srgbClr val="111827"/>
                </a:solidFill>
              </a:rPr>
              <a:t>Final Outcome: Live Robot Demonstration</a:t>
            </a:r>
          </a:p>
        </p:txBody>
      </p:sp>
      <p:sp>
        <p:nvSpPr>
          <p:cNvPr id="2" name="manual-video-placeholder">
            <a:extLst xmlns:a="http://schemas.openxmlformats.org/drawingml/2006/main">
              <a:ext uri="{FF2B5EF4-FFF2-40B4-BE49-F238E27FC236}">
                <a16:creationId xmlns:a16="http://schemas.microsoft.com/office/drawing/2014/main" id="{3D7834BD-2744-485A-BD1B-67502F874A52}"/>
              </a:ext>
            </a:extLst>
          </p:cNvPr>
          <p:cNvSpPr>
            <a:spLocks xmlns:a="http://schemas.openxmlformats.org/drawingml/2006/main" noGrp="1"/>
          </p:cNvSpPr>
          <p:nvPr/>
        </p:nvSpPr>
        <p:spPr>
          <a:xfrm xmlns:a="http://schemas.openxmlformats.org/drawingml/2006/main">
            <a:off x="857250" y="1390650"/>
            <a:ext cx="7239000" cy="4095750"/>
          </a:xfrm>
          <a:prstGeom xmlns:a="http://schemas.openxmlformats.org/drawingml/2006/main" prst="roundRect">
            <a:avLst>
              <a:gd name="adj" fmla="val 1860"/>
            </a:avLst>
          </a:prstGeom>
          <a:solidFill xmlns:a="http://schemas.openxmlformats.org/drawingml/2006/main">
            <a:srgbClr val="111827"/>
          </a:solidFill>
          <a:ln xmlns:a="http://schemas.openxmlformats.org/drawingml/2006/main" w="9525">
            <a:solidFill>
              <a:srgbClr val="111827"/>
            </a:solidFill>
            <a:prstDash val="solid"/>
          </a:ln>
        </p:spPr>
      </p:sp>
      <p:sp>
        <p:nvSpPr>
          <p:cNvPr id="3" name="play-marker">
            <a:extLst xmlns:a="http://schemas.openxmlformats.org/drawingml/2006/main">
              <a:ext uri="{FF2B5EF4-FFF2-40B4-BE49-F238E27FC236}">
                <a16:creationId xmlns:a16="http://schemas.microsoft.com/office/drawing/2014/main" id="{D1CEEB1C-7E50-4D83-9664-876117E58899}"/>
              </a:ext>
            </a:extLst>
          </p:cNvPr>
          <p:cNvSpPr>
            <a:spLocks xmlns:a="http://schemas.openxmlformats.org/drawingml/2006/main" noGrp="1"/>
          </p:cNvSpPr>
          <p:nvPr/>
        </p:nvSpPr>
        <p:spPr>
          <a:xfrm xmlns:a="http://schemas.openxmlformats.org/drawingml/2006/main" rot="5400000">
            <a:off x="4000500" y="2895600"/>
            <a:ext cx="895350" cy="895350"/>
          </a:xfrm>
          <a:prstGeom xmlns:a="http://schemas.openxmlformats.org/drawingml/2006/main" prst="triangle">
            <a:avLst/>
          </a:prstGeom>
          <a:solidFill xmlns:a="http://schemas.openxmlformats.org/drawingml/2006/main">
            <a:srgbClr val="FFFFFF"/>
          </a:solidFill>
          <a:ln xmlns:a="http://schemas.openxmlformats.org/drawingml/2006/main" w="0">
            <a:noFill/>
            <a:prstDash val="solid"/>
          </a:ln>
        </p:spPr>
      </p:sp>
      <p:sp>
        <p:nvSpPr>
          <p:cNvPr id="4" name="video-note">
            <a:extLst xmlns:a="http://schemas.openxmlformats.org/drawingml/2006/main">
              <a:ext uri="{FF2B5EF4-FFF2-40B4-BE49-F238E27FC236}">
                <a16:creationId xmlns:a16="http://schemas.microsoft.com/office/drawing/2014/main" id="{4B6A2EDC-C938-4F01-ADBF-C2597766A8ED}"/>
              </a:ext>
            </a:extLst>
          </p:cNvPr>
          <p:cNvSpPr>
            <a:spLocks xmlns:a="http://schemas.openxmlformats.org/drawingml/2006/main" noGrp="1"/>
          </p:cNvSpPr>
          <p:nvPr/>
        </p:nvSpPr>
        <p:spPr>
          <a:xfrm xmlns:a="http://schemas.openxmlformats.org/drawingml/2006/main">
            <a:off x="1771650" y="4629150"/>
            <a:ext cx="542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a:solidFill>
                  <a:srgbClr val="F9FAFB"/>
                </a:solidFill>
              </a:defRPr>
            </a:pPr>
            <a:r>
              <a:rPr sz="1800">
                <a:solidFill>
                  <a:srgbClr val="F9FAFB"/>
                </a:solidFill>
              </a:rPr>
              <a:t>Leave this area blank for the robot video</a:t>
            </a:r>
          </a:p>
        </p:txBody>
      </p:sp>
      <p:sp>
        <p:nvSpPr>
          <p:cNvPr id="5" name="outcome-title">
            <a:extLst xmlns:a="http://schemas.openxmlformats.org/drawingml/2006/main">
              <a:ext uri="{FF2B5EF4-FFF2-40B4-BE49-F238E27FC236}">
                <a16:creationId xmlns:a16="http://schemas.microsoft.com/office/drawing/2014/main" id="{BA137FFC-7A1F-4A42-8548-F25190CCD132}"/>
              </a:ext>
            </a:extLst>
          </p:cNvPr>
          <p:cNvSpPr>
            <a:spLocks xmlns:a="http://schemas.openxmlformats.org/drawingml/2006/main" noGrp="1"/>
          </p:cNvSpPr>
          <p:nvPr/>
        </p:nvSpPr>
        <p:spPr>
          <a:xfrm xmlns:a="http://schemas.openxmlformats.org/drawingml/2006/main">
            <a:off x="8620125" y="17145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11827"/>
                </a:solidFill>
              </a:defRPr>
            </a:pPr>
            <a:r>
              <a:rPr sz="1800" b="1">
                <a:solidFill>
                  <a:srgbClr val="111827"/>
                </a:solidFill>
              </a:rPr>
              <a:t>What the outcome shows</a:t>
            </a:r>
          </a:p>
        </p:txBody>
      </p:sp>
      <p:sp>
        <p:nvSpPr>
          <p:cNvPr id="6" name="outcome-body">
            <a:extLst xmlns:a="http://schemas.openxmlformats.org/drawingml/2006/main">
              <a:ext uri="{FF2B5EF4-FFF2-40B4-BE49-F238E27FC236}">
                <a16:creationId xmlns:a16="http://schemas.microsoft.com/office/drawing/2014/main" id="{B585A843-9A22-4D1A-B848-9DCAC4C831EB}"/>
              </a:ext>
            </a:extLst>
          </p:cNvPr>
          <p:cNvSpPr>
            <a:spLocks xmlns:a="http://schemas.openxmlformats.org/drawingml/2006/main" noGrp="1"/>
          </p:cNvSpPr>
          <p:nvPr/>
        </p:nvSpPr>
        <p:spPr>
          <a:xfrm xmlns:a="http://schemas.openxmlformats.org/drawingml/2006/main">
            <a:off x="8620125" y="2266950"/>
            <a:ext cx="2857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374151"/>
                </a:solidFill>
              </a:defRPr>
            </a:pPr>
            <a:r>
              <a:rPr sz="1500">
                <a:solidFill>
                  <a:srgbClr val="374151"/>
                </a:solidFill>
              </a:rPr>
              <a:t>A club learning path that produced working prototypes:</a:t>
            </a:r>
          </a:p>
          <a:p xmlns:a="http://schemas.openxmlformats.org/drawingml/2006/main">
            <a:r>
              <a:t/>
            </a:r>
          </a:p>
          <a:p xmlns:a="http://schemas.openxmlformats.org/drawingml/2006/main">
            <a:pPr>
              <a:defRPr sz="1500">
                <a:solidFill>
                  <a:srgbClr val="374151"/>
                </a:solidFill>
              </a:defRPr>
            </a:pPr>
            <a:r>
              <a:rPr sz="1500">
                <a:solidFill>
                  <a:srgbClr val="374151"/>
                </a:solidFill>
              </a:rPr>
              <a:t>1. Microcontroller lectures</a:t>
            </a:r>
          </a:p>
          <a:p xmlns:a="http://schemas.openxmlformats.org/drawingml/2006/main">
            <a:pPr>
              <a:defRPr sz="1500">
                <a:solidFill>
                  <a:srgbClr val="374151"/>
                </a:solidFill>
              </a:defRPr>
            </a:pPr>
            <a:r>
              <a:rPr sz="1500">
                <a:solidFill>
                  <a:srgbClr val="374151"/>
                </a:solidFill>
              </a:rPr>
              <a:t>2. Cindy's Arduino watering system</a:t>
            </a:r>
          </a:p>
          <a:p xmlns:a="http://schemas.openxmlformats.org/drawingml/2006/main">
            <a:pPr>
              <a:defRPr sz="1500">
                <a:solidFill>
                  <a:srgbClr val="374151"/>
                </a:solidFill>
              </a:defRPr>
            </a:pPr>
            <a:r>
              <a:rPr sz="1500">
                <a:solidFill>
                  <a:srgbClr val="374151"/>
                </a:solidFill>
              </a:rPr>
              <a:t>3. A robot pipeline from firmware to body design</a:t>
            </a:r>
          </a:p>
          <a:p xmlns:a="http://schemas.openxmlformats.org/drawingml/2006/main">
            <a:r>
              <a:t/>
            </a:r>
          </a:p>
          <a:p xmlns:a="http://schemas.openxmlformats.org/drawingml/2006/main">
            <a:pPr>
              <a:defRPr sz="1500">
                <a:solidFill>
                  <a:srgbClr val="374151"/>
                </a:solidFill>
              </a:defRPr>
            </a:pPr>
            <a:r>
              <a:rPr sz="1500">
                <a:solidFill>
                  <a:srgbClr val="374151"/>
                </a:solidFill>
              </a:rPr>
              <a:t>Next step: insert the final robot video here.</a:t>
            </a:r>
          </a:p>
        </p:txBody>
      </p:sp>
      <p:sp>
        <p:nvSpPr>
          <p:cNvPr id="7" name="footer-6">
            <a:extLst xmlns:a="http://schemas.openxmlformats.org/drawingml/2006/main">
              <a:ext uri="{FF2B5EF4-FFF2-40B4-BE49-F238E27FC236}">
                <a16:creationId xmlns:a16="http://schemas.microsoft.com/office/drawing/2014/main" id="{E08C9FAA-A7C9-49EB-BDDB-B9411E7C1ACF}"/>
              </a:ext>
            </a:extLst>
          </p:cNvPr>
          <p:cNvSpPr>
            <a:spLocks xmlns:a="http://schemas.openxmlformats.org/drawingml/2006/main" noGrp="1"/>
          </p:cNvSpPr>
          <p:nvPr/>
        </p:nvSpPr>
        <p:spPr>
          <a:xfrm xmlns:a="http://schemas.openxmlformats.org/drawingml/2006/main">
            <a:off x="495300" y="63055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B7280"/>
                </a:solidFill>
              </a:defRPr>
            </a:pPr>
            <a:r>
              <a:rPr sz="975">
                <a:solidFill>
                  <a:srgbClr val="6B7280"/>
                </a:solidFill>
              </a:rPr>
              <a:t>Robotics &amp; Embedded Systems Club  |  6/6</a:t>
            </a:r>
          </a:p>
        </p:txBody>
      </p:sp>
    </p:spTree>
    <p:extLst>
      <p:ext uri="{BB962C8B-B14F-4D97-AF65-F5344CB8AC3E}">
        <p14:creationId xmlns:p14="http://schemas.microsoft.com/office/powerpoint/2010/main" val="17481501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2026-06-22T14:04:38.5190000Z</dcterms:created>
  <dcterms:modified xsi:type="dcterms:W3CDTF">2026-06-22T14:04:38.5190000Z</dcterms:modified>
</coreProperties>
</file>