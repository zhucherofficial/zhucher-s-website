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4" d="100"/>
          <a:sy n="24" d="100"/>
        </p:scale>
        <p:origin x="18" y="5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9C9B4D82-7904-72AF-B9AE-CEB1C40F6DBD}"/>
              </a:ext>
            </a:extLst>
          </p:cNvPr>
          <p:cNvGrpSpPr/>
          <p:nvPr/>
        </p:nvGrpSpPr>
        <p:grpSpPr>
          <a:xfrm>
            <a:off x="256946" y="238931"/>
            <a:ext cx="11467519" cy="6531211"/>
            <a:chOff x="256946" y="238931"/>
            <a:chExt cx="11467519" cy="6531211"/>
          </a:xfrm>
        </p:grpSpPr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2EFDAE01-97F7-5707-3ADE-4CAE3F2CF6C8}"/>
                </a:ext>
              </a:extLst>
            </p:cNvPr>
            <p:cNvGrpSpPr/>
            <p:nvPr/>
          </p:nvGrpSpPr>
          <p:grpSpPr>
            <a:xfrm>
              <a:off x="256946" y="238931"/>
              <a:ext cx="11467519" cy="6531211"/>
              <a:chOff x="362240" y="438436"/>
              <a:chExt cx="11467519" cy="6531211"/>
            </a:xfrm>
          </p:grpSpPr>
          <p:grpSp>
            <p:nvGrpSpPr>
              <p:cNvPr id="140" name="组合 139">
                <a:extLst>
                  <a:ext uri="{FF2B5EF4-FFF2-40B4-BE49-F238E27FC236}">
                    <a16:creationId xmlns:a16="http://schemas.microsoft.com/office/drawing/2014/main" id="{0D6A7986-CDAC-2C64-3D06-5E445FBE1336}"/>
                  </a:ext>
                </a:extLst>
              </p:cNvPr>
              <p:cNvGrpSpPr/>
              <p:nvPr/>
            </p:nvGrpSpPr>
            <p:grpSpPr>
              <a:xfrm>
                <a:off x="362240" y="438436"/>
                <a:ext cx="11467519" cy="6531211"/>
                <a:chOff x="272252" y="322058"/>
                <a:chExt cx="11467519" cy="6531211"/>
              </a:xfrm>
            </p:grpSpPr>
            <p:grpSp>
              <p:nvGrpSpPr>
                <p:cNvPr id="86" name="组合 85">
                  <a:extLst>
                    <a:ext uri="{FF2B5EF4-FFF2-40B4-BE49-F238E27FC236}">
                      <a16:creationId xmlns:a16="http://schemas.microsoft.com/office/drawing/2014/main" id="{F86098C1-201B-A2EE-EB9B-C553B2EBF3F9}"/>
                    </a:ext>
                  </a:extLst>
                </p:cNvPr>
                <p:cNvGrpSpPr/>
                <p:nvPr/>
              </p:nvGrpSpPr>
              <p:grpSpPr>
                <a:xfrm>
                  <a:off x="694683" y="322058"/>
                  <a:ext cx="10802633" cy="2712861"/>
                  <a:chOff x="315686" y="292998"/>
                  <a:chExt cx="10802633" cy="2712861"/>
                </a:xfrm>
              </p:grpSpPr>
              <p:sp>
                <p:nvSpPr>
                  <p:cNvPr id="85" name="矩形 84">
                    <a:extLst>
                      <a:ext uri="{FF2B5EF4-FFF2-40B4-BE49-F238E27FC236}">
                        <a16:creationId xmlns:a16="http://schemas.microsoft.com/office/drawing/2014/main" id="{18A9B3D0-7401-D009-43B0-54A82A8234F3}"/>
                      </a:ext>
                    </a:extLst>
                  </p:cNvPr>
                  <p:cNvSpPr/>
                  <p:nvPr/>
                </p:nvSpPr>
                <p:spPr>
                  <a:xfrm>
                    <a:off x="8883215" y="2492724"/>
                    <a:ext cx="1591048" cy="42229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4" name="矩形 83">
                    <a:extLst>
                      <a:ext uri="{FF2B5EF4-FFF2-40B4-BE49-F238E27FC236}">
                        <a16:creationId xmlns:a16="http://schemas.microsoft.com/office/drawing/2014/main" id="{548BE94A-E442-DF08-B2FD-903F00D29CEB}"/>
                      </a:ext>
                    </a:extLst>
                  </p:cNvPr>
                  <p:cNvSpPr/>
                  <p:nvPr/>
                </p:nvSpPr>
                <p:spPr>
                  <a:xfrm>
                    <a:off x="8883215" y="1954232"/>
                    <a:ext cx="1591048" cy="42229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" name="矩形 82">
                    <a:extLst>
                      <a:ext uri="{FF2B5EF4-FFF2-40B4-BE49-F238E27FC236}">
                        <a16:creationId xmlns:a16="http://schemas.microsoft.com/office/drawing/2014/main" id="{4884E395-2D83-E5A1-5A1C-153F6F89E581}"/>
                      </a:ext>
                    </a:extLst>
                  </p:cNvPr>
                  <p:cNvSpPr/>
                  <p:nvPr/>
                </p:nvSpPr>
                <p:spPr>
                  <a:xfrm>
                    <a:off x="8783691" y="1445872"/>
                    <a:ext cx="1790097" cy="42229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2" name="矩形 81">
                    <a:extLst>
                      <a:ext uri="{FF2B5EF4-FFF2-40B4-BE49-F238E27FC236}">
                        <a16:creationId xmlns:a16="http://schemas.microsoft.com/office/drawing/2014/main" id="{1B90D8B9-0A50-09DD-BA6D-239D2F5791A2}"/>
                      </a:ext>
                    </a:extLst>
                  </p:cNvPr>
                  <p:cNvSpPr/>
                  <p:nvPr/>
                </p:nvSpPr>
                <p:spPr>
                  <a:xfrm>
                    <a:off x="8838654" y="869435"/>
                    <a:ext cx="1591048" cy="42229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31" name="组合 30">
                    <a:extLst>
                      <a:ext uri="{FF2B5EF4-FFF2-40B4-BE49-F238E27FC236}">
                        <a16:creationId xmlns:a16="http://schemas.microsoft.com/office/drawing/2014/main" id="{B354DBE7-1D04-0144-E24A-B6CC58F95157}"/>
                      </a:ext>
                    </a:extLst>
                  </p:cNvPr>
                  <p:cNvGrpSpPr/>
                  <p:nvPr/>
                </p:nvGrpSpPr>
                <p:grpSpPr>
                  <a:xfrm>
                    <a:off x="315686" y="710385"/>
                    <a:ext cx="1937658" cy="1796434"/>
                    <a:chOff x="549729" y="746240"/>
                    <a:chExt cx="1937658" cy="1796434"/>
                  </a:xfrm>
                </p:grpSpPr>
                <p:pic>
                  <p:nvPicPr>
                    <p:cNvPr id="6" name="图片 5">
                      <a:extLst>
                        <a:ext uri="{FF2B5EF4-FFF2-40B4-BE49-F238E27FC236}">
                          <a16:creationId xmlns:a16="http://schemas.microsoft.com/office/drawing/2014/main" id="{1A945EF9-6829-FDE5-A741-B3A92A0B318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rcRect l="21120" t="27778" r="26726" b="31111"/>
                    <a:stretch/>
                  </p:blipFill>
                  <p:spPr>
                    <a:xfrm>
                      <a:off x="819785" y="1171261"/>
                      <a:ext cx="1366157" cy="1241863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6" name="组合 25">
                      <a:extLst>
                        <a:ext uri="{FF2B5EF4-FFF2-40B4-BE49-F238E27FC236}">
                          <a16:creationId xmlns:a16="http://schemas.microsoft.com/office/drawing/2014/main" id="{1FAF1396-EF64-7ACD-70AF-983B448DA3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9729" y="746240"/>
                      <a:ext cx="1937658" cy="1796434"/>
                      <a:chOff x="2721273" y="2876559"/>
                      <a:chExt cx="1286102" cy="1085762"/>
                    </a:xfrm>
                  </p:grpSpPr>
                  <p:sp>
                    <p:nvSpPr>
                      <p:cNvPr id="27" name="矩形: 圆角 26">
                        <a:extLst>
                          <a:ext uri="{FF2B5EF4-FFF2-40B4-BE49-F238E27FC236}">
                            <a16:creationId xmlns:a16="http://schemas.microsoft.com/office/drawing/2014/main" id="{E265AFDF-67FA-3144-1E7B-EB51D2DEC2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21273" y="3003798"/>
                        <a:ext cx="1286102" cy="958523"/>
                      </a:xfrm>
                      <a:prstGeom prst="roundRect">
                        <a:avLst/>
                      </a:prstGeom>
                      <a:noFill/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2400"/>
                      </a:p>
                    </p:txBody>
                  </p:sp>
                  <p:grpSp>
                    <p:nvGrpSpPr>
                      <p:cNvPr id="28" name="组合 27">
                        <a:extLst>
                          <a:ext uri="{FF2B5EF4-FFF2-40B4-BE49-F238E27FC236}">
                            <a16:creationId xmlns:a16="http://schemas.microsoft.com/office/drawing/2014/main" id="{4EC36C3D-5AA9-F0BF-FF0C-90E5787A6D0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5464" y="2876559"/>
                        <a:ext cx="876886" cy="218385"/>
                        <a:chOff x="4600050" y="2888784"/>
                        <a:chExt cx="1051643" cy="231311"/>
                      </a:xfrm>
                      <a:solidFill>
                        <a:schemeClr val="bg1"/>
                      </a:solidFill>
                    </p:grpSpPr>
                    <p:sp>
                      <p:nvSpPr>
                        <p:cNvPr id="29" name="流程图: 终止 28">
                          <a:extLst>
                            <a:ext uri="{FF2B5EF4-FFF2-40B4-BE49-F238E27FC236}">
                              <a16:creationId xmlns:a16="http://schemas.microsoft.com/office/drawing/2014/main" id="{E24D7BE4-0AE3-4EEE-65B9-DCDC2080F1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600050" y="2888784"/>
                          <a:ext cx="1051643" cy="231311"/>
                        </a:xfrm>
                        <a:prstGeom prst="flowChartTerminator">
                          <a:avLst/>
                        </a:prstGeom>
                        <a:grpFill/>
                        <a:ln w="12700">
                          <a:solidFill>
                            <a:srgbClr val="0070C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sz="2400"/>
                        </a:p>
                      </p:txBody>
                    </p:sp>
                    <p:sp>
                      <p:nvSpPr>
                        <p:cNvPr id="30" name="文本框 29">
                          <a:extLst>
                            <a:ext uri="{FF2B5EF4-FFF2-40B4-BE49-F238E27FC236}">
                              <a16:creationId xmlns:a16="http://schemas.microsoft.com/office/drawing/2014/main" id="{579742F2-6C61-9C89-38A2-521F0571AEF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758113" y="2905396"/>
                          <a:ext cx="757353" cy="203639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zh-CN" altLang="en-US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黄芪药渣</a:t>
                          </a:r>
                        </a:p>
                      </p:txBody>
                    </p:sp>
                  </p:grpSp>
                </p:grpSp>
              </p:grpSp>
              <p:pic>
                <p:nvPicPr>
                  <p:cNvPr id="32" name="Picture 2" descr="F:\D盘资料（转移）to F\ppt版式模版\！精美PPT系列3\08\down.png">
                    <a:extLst>
                      <a:ext uri="{FF2B5EF4-FFF2-40B4-BE49-F238E27FC236}">
                        <a16:creationId xmlns:a16="http://schemas.microsoft.com/office/drawing/2014/main" id="{FAD66583-C456-146B-7B34-269DF54A9E8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duotone>
                      <a:prstClr val="black"/>
                      <a:srgbClr val="1F497D">
                        <a:tint val="45000"/>
                        <a:satMod val="400000"/>
                      </a:srgbClr>
                    </a:duotone>
                  </a:blip>
                  <a:srcRect/>
                  <a:stretch>
                    <a:fillRect/>
                  </a:stretch>
                </p:blipFill>
                <p:spPr bwMode="auto">
                  <a:xfrm rot="8068024">
                    <a:off x="2551028" y="1697791"/>
                    <a:ext cx="294154" cy="1054779"/>
                  </a:xfrm>
                  <a:prstGeom prst="rect">
                    <a:avLst/>
                  </a:prstGeom>
                  <a:noFill/>
                </p:spPr>
              </p:pic>
              <p:grpSp>
                <p:nvGrpSpPr>
                  <p:cNvPr id="44" name="组合 43">
                    <a:extLst>
                      <a:ext uri="{FF2B5EF4-FFF2-40B4-BE49-F238E27FC236}">
                        <a16:creationId xmlns:a16="http://schemas.microsoft.com/office/drawing/2014/main" id="{F5963BCC-0E65-2870-FB63-2464EC966A0B}"/>
                      </a:ext>
                    </a:extLst>
                  </p:cNvPr>
                  <p:cNvGrpSpPr/>
                  <p:nvPr/>
                </p:nvGrpSpPr>
                <p:grpSpPr>
                  <a:xfrm>
                    <a:off x="3109935" y="292998"/>
                    <a:ext cx="1319828" cy="1152874"/>
                    <a:chOff x="2846240" y="289482"/>
                    <a:chExt cx="1319828" cy="1152874"/>
                  </a:xfrm>
                </p:grpSpPr>
                <p:pic>
                  <p:nvPicPr>
                    <p:cNvPr id="7" name="图片 6">
                      <a:extLst>
                        <a:ext uri="{FF2B5EF4-FFF2-40B4-BE49-F238E27FC236}">
                          <a16:creationId xmlns:a16="http://schemas.microsoft.com/office/drawing/2014/main" id="{E6CEC2B5-BF1C-E38F-7EEB-4C5FE0FEF64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3082799" y="566117"/>
                      <a:ext cx="862362" cy="862362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3" name="组合 32">
                      <a:extLst>
                        <a:ext uri="{FF2B5EF4-FFF2-40B4-BE49-F238E27FC236}">
                          <a16:creationId xmlns:a16="http://schemas.microsoft.com/office/drawing/2014/main" id="{5E1E72A2-FB6A-AC43-A79A-9891B64A57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46240" y="289482"/>
                      <a:ext cx="1319828" cy="1152874"/>
                      <a:chOff x="2771800" y="2858499"/>
                      <a:chExt cx="1296144" cy="1057247"/>
                    </a:xfrm>
                  </p:grpSpPr>
                  <p:sp>
                    <p:nvSpPr>
                      <p:cNvPr id="34" name="矩形: 圆角 33">
                        <a:extLst>
                          <a:ext uri="{FF2B5EF4-FFF2-40B4-BE49-F238E27FC236}">
                            <a16:creationId xmlns:a16="http://schemas.microsoft.com/office/drawing/2014/main" id="{2386127E-C11B-9456-9F9F-E7B69BBB8C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71800" y="3003798"/>
                        <a:ext cx="1296144" cy="911948"/>
                      </a:xfrm>
                      <a:prstGeom prst="roundRect">
                        <a:avLst/>
                      </a:prstGeom>
                      <a:noFill/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grpSp>
                    <p:nvGrpSpPr>
                      <p:cNvPr id="35" name="组合 34">
                        <a:extLst>
                          <a:ext uri="{FF2B5EF4-FFF2-40B4-BE49-F238E27FC236}">
                            <a16:creationId xmlns:a16="http://schemas.microsoft.com/office/drawing/2014/main" id="{2F23978C-9A75-21A0-1538-36FE25BC167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5815" y="2858499"/>
                        <a:ext cx="1115833" cy="290578"/>
                        <a:chOff x="4600477" y="2869654"/>
                        <a:chExt cx="1338212" cy="307777"/>
                      </a:xfrm>
                      <a:solidFill>
                        <a:schemeClr val="bg1"/>
                      </a:solidFill>
                    </p:grpSpPr>
                    <p:sp>
                      <p:nvSpPr>
                        <p:cNvPr id="36" name="流程图: 终止 35">
                          <a:extLst>
                            <a:ext uri="{FF2B5EF4-FFF2-40B4-BE49-F238E27FC236}">
                              <a16:creationId xmlns:a16="http://schemas.microsoft.com/office/drawing/2014/main" id="{14F9423F-DCC3-7E4C-C9F1-6A2E394BDB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600477" y="2869654"/>
                          <a:ext cx="1152128" cy="307777"/>
                        </a:xfrm>
                        <a:prstGeom prst="flowChartTerminator">
                          <a:avLst/>
                        </a:prstGeom>
                        <a:grpFill/>
                        <a:ln w="12700">
                          <a:solidFill>
                            <a:srgbClr val="0070C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37" name="文本框 36">
                          <a:extLst>
                            <a:ext uri="{FF2B5EF4-FFF2-40B4-BE49-F238E27FC236}">
                              <a16:creationId xmlns:a16="http://schemas.microsoft.com/office/drawing/2014/main" id="{84C30236-FDF9-2EC3-E5E7-DB5A0C085C0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887046" y="2869654"/>
                          <a:ext cx="1051643" cy="298953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zh-CN" altLang="en-US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云芝</a:t>
                          </a:r>
                        </a:p>
                      </p:txBody>
                    </p:sp>
                  </p:grpSp>
                </p:grpSp>
              </p:grpSp>
              <p:grpSp>
                <p:nvGrpSpPr>
                  <p:cNvPr id="45" name="组合 44">
                    <a:extLst>
                      <a:ext uri="{FF2B5EF4-FFF2-40B4-BE49-F238E27FC236}">
                        <a16:creationId xmlns:a16="http://schemas.microsoft.com/office/drawing/2014/main" id="{802F7226-3752-0E18-5916-B964C7173623}"/>
                      </a:ext>
                    </a:extLst>
                  </p:cNvPr>
                  <p:cNvGrpSpPr/>
                  <p:nvPr/>
                </p:nvGrpSpPr>
                <p:grpSpPr>
                  <a:xfrm>
                    <a:off x="3093048" y="1796876"/>
                    <a:ext cx="1336715" cy="1208983"/>
                    <a:chOff x="2985471" y="1798372"/>
                    <a:chExt cx="1336715" cy="1208983"/>
                  </a:xfrm>
                </p:grpSpPr>
                <p:pic>
                  <p:nvPicPr>
                    <p:cNvPr id="8" name="图片 7">
                      <a:extLst>
                        <a:ext uri="{FF2B5EF4-FFF2-40B4-BE49-F238E27FC236}">
                          <a16:creationId xmlns:a16="http://schemas.microsoft.com/office/drawing/2014/main" id="{55096B1D-BFCF-1370-014D-EE4C0FBF48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3221179" y="1837216"/>
                      <a:ext cx="862362" cy="862362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8" name="组合 37">
                      <a:extLst>
                        <a:ext uri="{FF2B5EF4-FFF2-40B4-BE49-F238E27FC236}">
                          <a16:creationId xmlns:a16="http://schemas.microsoft.com/office/drawing/2014/main" id="{5749022B-0F97-8CEA-0437-CF87900089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85471" y="1798372"/>
                      <a:ext cx="1336715" cy="1185205"/>
                      <a:chOff x="3958276" y="2936911"/>
                      <a:chExt cx="1296144" cy="1073048"/>
                    </a:xfrm>
                  </p:grpSpPr>
                  <p:sp>
                    <p:nvSpPr>
                      <p:cNvPr id="39" name="矩形: 圆角 38">
                        <a:extLst>
                          <a:ext uri="{FF2B5EF4-FFF2-40B4-BE49-F238E27FC236}">
                            <a16:creationId xmlns:a16="http://schemas.microsoft.com/office/drawing/2014/main" id="{CB9AD77C-5A65-E851-407A-0D7899390F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8276" y="2936911"/>
                        <a:ext cx="1296144" cy="911948"/>
                      </a:xfrm>
                      <a:prstGeom prst="roundRect">
                        <a:avLst/>
                      </a:prstGeom>
                      <a:noFill/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1" name="流程图: 终止 40">
                        <a:extLst>
                          <a:ext uri="{FF2B5EF4-FFF2-40B4-BE49-F238E27FC236}">
                            <a16:creationId xmlns:a16="http://schemas.microsoft.com/office/drawing/2014/main" id="{3F947F71-86D4-11E1-475C-37D35E8133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22334" y="3719380"/>
                        <a:ext cx="960672" cy="290579"/>
                      </a:xfrm>
                      <a:prstGeom prst="flowChartTerminator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dirty="0"/>
                          <a:t>云芝</a:t>
                        </a:r>
                      </a:p>
                    </p:txBody>
                  </p:sp>
                </p:grpSp>
                <p:sp>
                  <p:nvSpPr>
                    <p:cNvPr id="43" name="文本框 42">
                      <a:extLst>
                        <a:ext uri="{FF2B5EF4-FFF2-40B4-BE49-F238E27FC236}">
                          <a16:creationId xmlns:a16="http://schemas.microsoft.com/office/drawing/2014/main" id="{3ED9A399-01A0-D0C2-85A0-1652BE45CE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85809" y="2699578"/>
                      <a:ext cx="892908" cy="307777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蛹虫草</a:t>
                      </a:r>
                    </a:p>
                  </p:txBody>
                </p:sp>
              </p:grpSp>
              <p:pic>
                <p:nvPicPr>
                  <p:cNvPr id="46" name="Picture 2" descr="F:\D盘资料（转移）to F\ppt版式模版\！精美PPT系列3\08\down.png">
                    <a:extLst>
                      <a:ext uri="{FF2B5EF4-FFF2-40B4-BE49-F238E27FC236}">
                        <a16:creationId xmlns:a16="http://schemas.microsoft.com/office/drawing/2014/main" id="{F1B10A2F-7982-04B7-06D1-230C2046DC3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duotone>
                      <a:prstClr val="black"/>
                      <a:srgbClr val="1F497D">
                        <a:tint val="45000"/>
                        <a:satMod val="400000"/>
                      </a:srgbClr>
                    </a:duotone>
                  </a:blip>
                  <a:srcRect/>
                  <a:stretch>
                    <a:fillRect/>
                  </a:stretch>
                </p:blipFill>
                <p:spPr bwMode="auto">
                  <a:xfrm rot="3624866">
                    <a:off x="2628637" y="620453"/>
                    <a:ext cx="294154" cy="1054779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47" name="图片 46">
                    <a:extLst>
                      <a:ext uri="{FF2B5EF4-FFF2-40B4-BE49-F238E27FC236}">
                        <a16:creationId xmlns:a16="http://schemas.microsoft.com/office/drawing/2014/main" id="{EA990D8B-76E5-6E0D-EE8C-BB92E59885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463721" y="776840"/>
                    <a:ext cx="752648" cy="2040072"/>
                  </a:xfrm>
                  <a:prstGeom prst="rect">
                    <a:avLst/>
                  </a:prstGeom>
                </p:spPr>
              </p:pic>
              <p:grpSp>
                <p:nvGrpSpPr>
                  <p:cNvPr id="61" name="组合 60">
                    <a:extLst>
                      <a:ext uri="{FF2B5EF4-FFF2-40B4-BE49-F238E27FC236}">
                        <a16:creationId xmlns:a16="http://schemas.microsoft.com/office/drawing/2014/main" id="{4B5D77CD-A6F9-13EF-FDA3-CF71EE34F856}"/>
                      </a:ext>
                    </a:extLst>
                  </p:cNvPr>
                  <p:cNvGrpSpPr/>
                  <p:nvPr/>
                </p:nvGrpSpPr>
                <p:grpSpPr>
                  <a:xfrm>
                    <a:off x="5389578" y="563129"/>
                    <a:ext cx="2067670" cy="2277537"/>
                    <a:chOff x="5321562" y="612832"/>
                    <a:chExt cx="2067670" cy="2277537"/>
                  </a:xfrm>
                </p:grpSpPr>
                <p:pic>
                  <p:nvPicPr>
                    <p:cNvPr id="10" name="图片 9">
                      <a:extLst>
                        <a:ext uri="{FF2B5EF4-FFF2-40B4-BE49-F238E27FC236}">
                          <a16:creationId xmlns:a16="http://schemas.microsoft.com/office/drawing/2014/main" id="{E6169407-2D70-DE3D-7965-947EB71BE28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9412" t="23809" r="19200" b="30556"/>
                    <a:stretch/>
                  </p:blipFill>
                  <p:spPr>
                    <a:xfrm>
                      <a:off x="5556656" y="1147842"/>
                      <a:ext cx="1629332" cy="1615286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6" name="组合 55">
                      <a:extLst>
                        <a:ext uri="{FF2B5EF4-FFF2-40B4-BE49-F238E27FC236}">
                          <a16:creationId xmlns:a16="http://schemas.microsoft.com/office/drawing/2014/main" id="{EF9E7F9E-9761-2AA5-907F-66451B3AEF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21562" y="612832"/>
                      <a:ext cx="2067670" cy="2277537"/>
                      <a:chOff x="2771800" y="2859258"/>
                      <a:chExt cx="1296144" cy="1056488"/>
                    </a:xfrm>
                  </p:grpSpPr>
                  <p:sp>
                    <p:nvSpPr>
                      <p:cNvPr id="57" name="矩形: 圆角 56">
                        <a:extLst>
                          <a:ext uri="{FF2B5EF4-FFF2-40B4-BE49-F238E27FC236}">
                            <a16:creationId xmlns:a16="http://schemas.microsoft.com/office/drawing/2014/main" id="{C49A9F3D-A703-5F47-2710-4A8D33BC05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71800" y="3003798"/>
                        <a:ext cx="1296144" cy="911948"/>
                      </a:xfrm>
                      <a:prstGeom prst="roundRect">
                        <a:avLst/>
                      </a:prstGeom>
                      <a:noFill/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grpSp>
                    <p:nvGrpSpPr>
                      <p:cNvPr id="58" name="组合 57">
                        <a:extLst>
                          <a:ext uri="{FF2B5EF4-FFF2-40B4-BE49-F238E27FC236}">
                            <a16:creationId xmlns:a16="http://schemas.microsoft.com/office/drawing/2014/main" id="{2321C77C-8A7E-2BFC-C81D-A2BB4790CE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31341" y="2859258"/>
                        <a:ext cx="797026" cy="195889"/>
                        <a:chOff x="4739024" y="2870466"/>
                        <a:chExt cx="955868" cy="207484"/>
                      </a:xfrm>
                      <a:solidFill>
                        <a:schemeClr val="bg1"/>
                      </a:solidFill>
                    </p:grpSpPr>
                    <p:sp>
                      <p:nvSpPr>
                        <p:cNvPr id="59" name="流程图: 终止 58">
                          <a:extLst>
                            <a:ext uri="{FF2B5EF4-FFF2-40B4-BE49-F238E27FC236}">
                              <a16:creationId xmlns:a16="http://schemas.microsoft.com/office/drawing/2014/main" id="{3F8B314E-9DBB-BC8B-8AA3-5F33EFE30C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39024" y="2870466"/>
                          <a:ext cx="955868" cy="207484"/>
                        </a:xfrm>
                        <a:prstGeom prst="flowChartTerminator">
                          <a:avLst/>
                        </a:prstGeom>
                        <a:grpFill/>
                        <a:ln w="12700">
                          <a:solidFill>
                            <a:srgbClr val="0070C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60" name="文本框 59">
                          <a:extLst>
                            <a:ext uri="{FF2B5EF4-FFF2-40B4-BE49-F238E27FC236}">
                              <a16:creationId xmlns:a16="http://schemas.microsoft.com/office/drawing/2014/main" id="{1821023F-5E7D-2CD6-E2D7-224E750994C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780343" y="2896460"/>
                          <a:ext cx="886929" cy="151220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zh-CN" altLang="en-US" sz="1400" b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发酵黄芪渣</a:t>
                          </a:r>
                        </a:p>
                      </p:txBody>
                    </p:sp>
                  </p:grpSp>
                </p:grpSp>
              </p:grpSp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CF098125-FA58-B7F3-34FC-C6E9010D371A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675" y="1397817"/>
                    <a:ext cx="714070" cy="7386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sz="1400" dirty="0">
                        <a:effectLst/>
                        <a:latin typeface="+mn-ea"/>
                      </a:rPr>
                      <a:t>25℃</a:t>
                    </a:r>
                    <a:r>
                      <a:rPr lang="zh-CN" altLang="zh-CN" sz="1400" dirty="0">
                        <a:effectLst/>
                        <a:latin typeface="+mn-ea"/>
                        <a:cs typeface="Times New Roman" panose="02020603050405020304" pitchFamily="18" charset="0"/>
                      </a:rPr>
                      <a:t>发酵</a:t>
                    </a:r>
                    <a:r>
                      <a:rPr lang="en-US" altLang="zh-CN" sz="1400" dirty="0">
                        <a:effectLst/>
                        <a:latin typeface="+mn-ea"/>
                      </a:rPr>
                      <a:t>12</a:t>
                    </a:r>
                    <a:r>
                      <a:rPr lang="en-US" altLang="zh-CN" sz="1400" dirty="0">
                        <a:latin typeface="+mn-ea"/>
                        <a:cs typeface="Times New Roman" panose="02020603050405020304" pitchFamily="18" charset="0"/>
                      </a:rPr>
                      <a:t>d</a:t>
                    </a:r>
                    <a:endParaRPr lang="zh-CN" altLang="en-US" sz="1400" dirty="0">
                      <a:latin typeface="+mn-ea"/>
                    </a:endParaRPr>
                  </a:p>
                </p:txBody>
              </p:sp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0443E677-7A4E-5E58-F37E-FE2BE9425616}"/>
                      </a:ext>
                    </a:extLst>
                  </p:cNvPr>
                  <p:cNvSpPr txBox="1"/>
                  <p:nvPr/>
                </p:nvSpPr>
                <p:spPr>
                  <a:xfrm>
                    <a:off x="2204022" y="1476674"/>
                    <a:ext cx="965738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400" dirty="0">
                        <a:effectLst/>
                        <a:latin typeface="+mn-ea"/>
                      </a:rPr>
                      <a:t>接种</a:t>
                    </a:r>
                    <a:endParaRPr lang="zh-CN" altLang="en-US" sz="1400" dirty="0">
                      <a:latin typeface="+mn-ea"/>
                    </a:endParaRPr>
                  </a:p>
                </p:txBody>
              </p:sp>
              <p:grpSp>
                <p:nvGrpSpPr>
                  <p:cNvPr id="69" name="组合 68">
                    <a:extLst>
                      <a:ext uri="{FF2B5EF4-FFF2-40B4-BE49-F238E27FC236}">
                        <a16:creationId xmlns:a16="http://schemas.microsoft.com/office/drawing/2014/main" id="{D93BB3C2-4D7C-A7DF-30D5-CF580B855680}"/>
                      </a:ext>
                    </a:extLst>
                  </p:cNvPr>
                  <p:cNvGrpSpPr/>
                  <p:nvPr/>
                </p:nvGrpSpPr>
                <p:grpSpPr>
                  <a:xfrm>
                    <a:off x="7909390" y="1036455"/>
                    <a:ext cx="450849" cy="1688708"/>
                    <a:chOff x="7908007" y="897382"/>
                    <a:chExt cx="450849" cy="1688708"/>
                  </a:xfrm>
                </p:grpSpPr>
                <p:sp>
                  <p:nvSpPr>
                    <p:cNvPr id="68" name="矩形: 圆角 67">
                      <a:extLst>
                        <a:ext uri="{FF2B5EF4-FFF2-40B4-BE49-F238E27FC236}">
                          <a16:creationId xmlns:a16="http://schemas.microsoft.com/office/drawing/2014/main" id="{D94A8BF2-9AC3-40B7-BD4A-DAAEED8B54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08007" y="897382"/>
                      <a:ext cx="450849" cy="1688708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" name="文本框 66">
                      <a:extLst>
                        <a:ext uri="{FF2B5EF4-FFF2-40B4-BE49-F238E27FC236}">
                          <a16:creationId xmlns:a16="http://schemas.microsoft.com/office/drawing/2014/main" id="{6E1C7B3A-F693-4359-4A90-D0CC29D76C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24389" y="1027031"/>
                      <a:ext cx="283029" cy="1200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dirty="0"/>
                        <a:t>检测指标</a:t>
                      </a:r>
                    </a:p>
                  </p:txBody>
                </p:sp>
              </p:grpSp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083F9BF4-0F40-BB6E-D433-7B2EF6D93669}"/>
                      </a:ext>
                    </a:extLst>
                  </p:cNvPr>
                  <p:cNvSpPr txBox="1"/>
                  <p:nvPr/>
                </p:nvSpPr>
                <p:spPr>
                  <a:xfrm>
                    <a:off x="8938847" y="911303"/>
                    <a:ext cx="1712512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600" dirty="0"/>
                      <a:t>黄芪甲苷含量</a:t>
                    </a:r>
                    <a:endParaRPr lang="en-US" altLang="zh-CN" sz="1600" dirty="0"/>
                  </a:p>
                </p:txBody>
              </p:sp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7272AC07-84F5-5F0B-45E9-F95655815A56}"/>
                      </a:ext>
                    </a:extLst>
                  </p:cNvPr>
                  <p:cNvSpPr txBox="1"/>
                  <p:nvPr/>
                </p:nvSpPr>
                <p:spPr>
                  <a:xfrm>
                    <a:off x="8776741" y="1490457"/>
                    <a:ext cx="234157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600" dirty="0"/>
                      <a:t>总糖、还原糖含量</a:t>
                    </a:r>
                    <a:endParaRPr lang="en-US" altLang="zh-CN" sz="1600" dirty="0"/>
                  </a:p>
                </p:txBody>
              </p:sp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0245745A-B4E8-602E-7303-13C58009A6DA}"/>
                      </a:ext>
                    </a:extLst>
                  </p:cNvPr>
                  <p:cNvSpPr txBox="1"/>
                  <p:nvPr/>
                </p:nvSpPr>
                <p:spPr>
                  <a:xfrm>
                    <a:off x="9012130" y="1967204"/>
                    <a:ext cx="139342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600" dirty="0"/>
                      <a:t>总黄酮含量</a:t>
                    </a:r>
                    <a:endParaRPr lang="en-US" altLang="zh-CN" sz="1600" dirty="0"/>
                  </a:p>
                </p:txBody>
              </p:sp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01E886BC-9041-6797-E180-853D4A655314}"/>
                      </a:ext>
                    </a:extLst>
                  </p:cNvPr>
                  <p:cNvSpPr txBox="1"/>
                  <p:nvPr/>
                </p:nvSpPr>
                <p:spPr>
                  <a:xfrm>
                    <a:off x="8926684" y="2527088"/>
                    <a:ext cx="1841919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600" dirty="0"/>
                      <a:t>纤维素酶活力</a:t>
                    </a:r>
                    <a:endParaRPr lang="en-US" altLang="zh-CN" sz="1600" dirty="0"/>
                  </a:p>
                </p:txBody>
              </p:sp>
              <p:sp>
                <p:nvSpPr>
                  <p:cNvPr id="78" name="箭头: 右 77">
                    <a:extLst>
                      <a:ext uri="{FF2B5EF4-FFF2-40B4-BE49-F238E27FC236}">
                        <a16:creationId xmlns:a16="http://schemas.microsoft.com/office/drawing/2014/main" id="{F8E199E0-32CF-D345-CE96-9FAD9FC5C55C}"/>
                      </a:ext>
                    </a:extLst>
                  </p:cNvPr>
                  <p:cNvSpPr/>
                  <p:nvPr/>
                </p:nvSpPr>
                <p:spPr>
                  <a:xfrm>
                    <a:off x="7579154" y="1528620"/>
                    <a:ext cx="236231" cy="536512"/>
                  </a:xfrm>
                  <a:prstGeom prst="rightArrow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1" name="左大括号 80">
                    <a:extLst>
                      <a:ext uri="{FF2B5EF4-FFF2-40B4-BE49-F238E27FC236}">
                        <a16:creationId xmlns:a16="http://schemas.microsoft.com/office/drawing/2014/main" id="{3C2A81A6-80C7-9DF4-E4FF-9631EFF4E13A}"/>
                      </a:ext>
                    </a:extLst>
                  </p:cNvPr>
                  <p:cNvSpPr/>
                  <p:nvPr/>
                </p:nvSpPr>
                <p:spPr>
                  <a:xfrm>
                    <a:off x="8432650" y="1071711"/>
                    <a:ext cx="295596" cy="1477328"/>
                  </a:xfrm>
                  <a:prstGeom prst="leftBrace">
                    <a:avLst/>
                  </a:prstGeom>
                  <a:ln w="38100"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92" name="组合 91">
                  <a:extLst>
                    <a:ext uri="{FF2B5EF4-FFF2-40B4-BE49-F238E27FC236}">
                      <a16:creationId xmlns:a16="http://schemas.microsoft.com/office/drawing/2014/main" id="{6782BC18-7B43-F190-6563-BCA1C3A0414D}"/>
                    </a:ext>
                  </a:extLst>
                </p:cNvPr>
                <p:cNvGrpSpPr/>
                <p:nvPr/>
              </p:nvGrpSpPr>
              <p:grpSpPr>
                <a:xfrm>
                  <a:off x="272252" y="4155151"/>
                  <a:ext cx="2260788" cy="1729144"/>
                  <a:chOff x="694683" y="3278285"/>
                  <a:chExt cx="2260788" cy="1729144"/>
                </a:xfrm>
              </p:grpSpPr>
              <p:pic>
                <p:nvPicPr>
                  <p:cNvPr id="16" name="图片 15">
                    <a:extLst>
                      <a:ext uri="{FF2B5EF4-FFF2-40B4-BE49-F238E27FC236}">
                        <a16:creationId xmlns:a16="http://schemas.microsoft.com/office/drawing/2014/main" id="{C15FD5D3-3E40-EFC5-28B3-6BCA8AF8B3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809" t="23492" r="15510" b="19682"/>
                  <a:stretch/>
                </p:blipFill>
                <p:spPr>
                  <a:xfrm>
                    <a:off x="754027" y="3708671"/>
                    <a:ext cx="2128040" cy="1198394"/>
                  </a:xfrm>
                  <a:prstGeom prst="rect">
                    <a:avLst/>
                  </a:prstGeom>
                </p:spPr>
              </p:pic>
              <p:grpSp>
                <p:nvGrpSpPr>
                  <p:cNvPr id="87" name="组合 86">
                    <a:extLst>
                      <a:ext uri="{FF2B5EF4-FFF2-40B4-BE49-F238E27FC236}">
                        <a16:creationId xmlns:a16="http://schemas.microsoft.com/office/drawing/2014/main" id="{FBD5680F-F666-DF66-590E-67FE4BCC2E91}"/>
                      </a:ext>
                    </a:extLst>
                  </p:cNvPr>
                  <p:cNvGrpSpPr/>
                  <p:nvPr/>
                </p:nvGrpSpPr>
                <p:grpSpPr>
                  <a:xfrm>
                    <a:off x="694683" y="3278285"/>
                    <a:ext cx="2260788" cy="1729144"/>
                    <a:chOff x="2771800" y="2858508"/>
                    <a:chExt cx="1296144" cy="1057238"/>
                  </a:xfrm>
                </p:grpSpPr>
                <p:sp>
                  <p:nvSpPr>
                    <p:cNvPr id="88" name="矩形: 圆角 87">
                      <a:extLst>
                        <a:ext uri="{FF2B5EF4-FFF2-40B4-BE49-F238E27FC236}">
                          <a16:creationId xmlns:a16="http://schemas.microsoft.com/office/drawing/2014/main" id="{C73F0A34-C7D2-3281-6EF9-0F8E10D0A6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1800" y="3003798"/>
                      <a:ext cx="1296144" cy="911948"/>
                    </a:xfrm>
                    <a:prstGeom prst="roundRect">
                      <a:avLst/>
                    </a:prstGeom>
                    <a:noFill/>
                    <a:ln w="127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89" name="组合 88">
                      <a:extLst>
                        <a:ext uri="{FF2B5EF4-FFF2-40B4-BE49-F238E27FC236}">
                          <a16:creationId xmlns:a16="http://schemas.microsoft.com/office/drawing/2014/main" id="{5A159282-CBAD-2914-889E-B0B0569971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5814" y="2858508"/>
                      <a:ext cx="1031402" cy="290579"/>
                      <a:chOff x="4600477" y="2869654"/>
                      <a:chExt cx="1236955" cy="307777"/>
                    </a:xfrm>
                    <a:solidFill>
                      <a:schemeClr val="bg1"/>
                    </a:solidFill>
                  </p:grpSpPr>
                  <p:sp>
                    <p:nvSpPr>
                      <p:cNvPr id="90" name="流程图: 终止 89">
                        <a:extLst>
                          <a:ext uri="{FF2B5EF4-FFF2-40B4-BE49-F238E27FC236}">
                            <a16:creationId xmlns:a16="http://schemas.microsoft.com/office/drawing/2014/main" id="{F148D103-5865-92E4-B2CB-9E0148ADEF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0477" y="2869654"/>
                        <a:ext cx="1152128" cy="307777"/>
                      </a:xfrm>
                      <a:prstGeom prst="flowChartTerminator">
                        <a:avLst/>
                      </a:prstGeom>
                      <a:grpFill/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1" name="文本框 90">
                        <a:extLst>
                          <a:ext uri="{FF2B5EF4-FFF2-40B4-BE49-F238E27FC236}">
                            <a16:creationId xmlns:a16="http://schemas.microsoft.com/office/drawing/2014/main" id="{25044AD1-705B-DC50-0CDD-4F20DB578A0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85789" y="2916556"/>
                        <a:ext cx="1051643" cy="19931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zh-CN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饲料原料混合</a:t>
                        </a:r>
                      </a:p>
                    </p:txBody>
                  </p:sp>
                </p:grpSp>
              </p:grpSp>
            </p:grpSp>
            <p:grpSp>
              <p:nvGrpSpPr>
                <p:cNvPr id="100" name="组合 99">
                  <a:extLst>
                    <a:ext uri="{FF2B5EF4-FFF2-40B4-BE49-F238E27FC236}">
                      <a16:creationId xmlns:a16="http://schemas.microsoft.com/office/drawing/2014/main" id="{50D95046-8570-ED9E-6557-DD02AB8347E8}"/>
                    </a:ext>
                  </a:extLst>
                </p:cNvPr>
                <p:cNvGrpSpPr/>
                <p:nvPr/>
              </p:nvGrpSpPr>
              <p:grpSpPr>
                <a:xfrm>
                  <a:off x="3090666" y="3324557"/>
                  <a:ext cx="2986651" cy="3463609"/>
                  <a:chOff x="3017018" y="3130352"/>
                  <a:chExt cx="2986651" cy="3463609"/>
                </a:xfrm>
              </p:grpSpPr>
              <p:pic>
                <p:nvPicPr>
                  <p:cNvPr id="12" name="图片 11">
                    <a:extLst>
                      <a:ext uri="{FF2B5EF4-FFF2-40B4-BE49-F238E27FC236}">
                        <a16:creationId xmlns:a16="http://schemas.microsoft.com/office/drawing/2014/main" id="{0A5C215D-F3DF-3A60-39A9-AFF4215F8B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177507" y="3577950"/>
                    <a:ext cx="965738" cy="942870"/>
                  </a:xfrm>
                  <a:prstGeom prst="rect">
                    <a:avLst/>
                  </a:prstGeom>
                </p:spPr>
              </p:pic>
              <p:pic>
                <p:nvPicPr>
                  <p:cNvPr id="13" name="图片 12">
                    <a:extLst>
                      <a:ext uri="{FF2B5EF4-FFF2-40B4-BE49-F238E27FC236}">
                        <a16:creationId xmlns:a16="http://schemas.microsoft.com/office/drawing/2014/main" id="{D1AA1D5A-A823-B42B-9F21-E94962E48F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3177506" y="4520820"/>
                    <a:ext cx="965739" cy="942871"/>
                  </a:xfrm>
                  <a:prstGeom prst="rect">
                    <a:avLst/>
                  </a:prstGeom>
                </p:spPr>
              </p:pic>
              <p:pic>
                <p:nvPicPr>
                  <p:cNvPr id="14" name="图片 13">
                    <a:extLst>
                      <a:ext uri="{FF2B5EF4-FFF2-40B4-BE49-F238E27FC236}">
                        <a16:creationId xmlns:a16="http://schemas.microsoft.com/office/drawing/2014/main" id="{5E55F2CA-9AE6-6607-6E52-171F6B74F1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3181404" y="5463691"/>
                    <a:ext cx="961841" cy="942870"/>
                  </a:xfrm>
                  <a:prstGeom prst="rect">
                    <a:avLst/>
                  </a:prstGeom>
                </p:spPr>
              </p:pic>
              <p:pic>
                <p:nvPicPr>
                  <p:cNvPr id="24" name="图片 23">
                    <a:extLst>
                      <a:ext uri="{FF2B5EF4-FFF2-40B4-BE49-F238E27FC236}">
                        <a16:creationId xmlns:a16="http://schemas.microsoft.com/office/drawing/2014/main" id="{7D933459-B585-1647-371F-B8A38ED0A3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1369" t="12460" r="22560" b="18205"/>
                  <a:stretch/>
                </p:blipFill>
                <p:spPr>
                  <a:xfrm>
                    <a:off x="4141137" y="4850590"/>
                    <a:ext cx="1654630" cy="1534503"/>
                  </a:xfrm>
                  <a:prstGeom prst="rect">
                    <a:avLst/>
                  </a:prstGeom>
                </p:spPr>
              </p:pic>
              <p:grpSp>
                <p:nvGrpSpPr>
                  <p:cNvPr id="93" name="组合 92">
                    <a:extLst>
                      <a:ext uri="{FF2B5EF4-FFF2-40B4-BE49-F238E27FC236}">
                        <a16:creationId xmlns:a16="http://schemas.microsoft.com/office/drawing/2014/main" id="{54BDC482-52A1-7383-920E-D50BA1551DFD}"/>
                      </a:ext>
                    </a:extLst>
                  </p:cNvPr>
                  <p:cNvGrpSpPr/>
                  <p:nvPr/>
                </p:nvGrpSpPr>
                <p:grpSpPr>
                  <a:xfrm>
                    <a:off x="3017018" y="3130352"/>
                    <a:ext cx="2986651" cy="3463609"/>
                    <a:chOff x="2739836" y="2863220"/>
                    <a:chExt cx="1296144" cy="988594"/>
                  </a:xfrm>
                </p:grpSpPr>
                <p:sp>
                  <p:nvSpPr>
                    <p:cNvPr id="94" name="矩形: 圆角 93">
                      <a:extLst>
                        <a:ext uri="{FF2B5EF4-FFF2-40B4-BE49-F238E27FC236}">
                          <a16:creationId xmlns:a16="http://schemas.microsoft.com/office/drawing/2014/main" id="{16CF8C61-6134-13C5-C1F3-4C99D2870D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39836" y="2939866"/>
                      <a:ext cx="1296144" cy="911948"/>
                    </a:xfrm>
                    <a:prstGeom prst="roundRect">
                      <a:avLst/>
                    </a:prstGeom>
                    <a:noFill/>
                    <a:ln w="127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95" name="组合 94">
                      <a:extLst>
                        <a:ext uri="{FF2B5EF4-FFF2-40B4-BE49-F238E27FC236}">
                          <a16:creationId xmlns:a16="http://schemas.microsoft.com/office/drawing/2014/main" id="{3B664746-7222-4AD8-A938-4D9E0A3BAF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87863" y="2863220"/>
                      <a:ext cx="811484" cy="120300"/>
                      <a:chOff x="4806819" y="2874645"/>
                      <a:chExt cx="973209" cy="127420"/>
                    </a:xfrm>
                    <a:solidFill>
                      <a:schemeClr val="bg1"/>
                    </a:solidFill>
                  </p:grpSpPr>
                  <p:sp>
                    <p:nvSpPr>
                      <p:cNvPr id="96" name="流程图: 终止 95">
                        <a:extLst>
                          <a:ext uri="{FF2B5EF4-FFF2-40B4-BE49-F238E27FC236}">
                            <a16:creationId xmlns:a16="http://schemas.microsoft.com/office/drawing/2014/main" id="{30415351-1E9C-4FDF-FE0C-2FB8B25F48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6819" y="2874645"/>
                        <a:ext cx="814773" cy="127420"/>
                      </a:xfrm>
                      <a:prstGeom prst="flowChartTerminator">
                        <a:avLst/>
                      </a:prstGeom>
                      <a:grpFill/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7" name="文本框 96">
                        <a:extLst>
                          <a:ext uri="{FF2B5EF4-FFF2-40B4-BE49-F238E27FC236}">
                            <a16:creationId xmlns:a16="http://schemas.microsoft.com/office/drawing/2014/main" id="{E7608372-DD62-3878-177B-C575ADDC45D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65255" y="2894326"/>
                        <a:ext cx="814773" cy="93046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zh-CN" altLang="en-US" sz="14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饲料工艺</a:t>
                        </a:r>
                      </a:p>
                    </p:txBody>
                  </p:sp>
                </p:grpSp>
              </p:grpSp>
            </p:grpSp>
            <p:pic>
              <p:nvPicPr>
                <p:cNvPr id="99" name="Picture 2" descr="F:\D盘资料（转移）to F\ppt版式模版\！精美PPT系列3\08\down.png">
                  <a:extLst>
                    <a:ext uri="{FF2B5EF4-FFF2-40B4-BE49-F238E27FC236}">
                      <a16:creationId xmlns:a16="http://schemas.microsoft.com/office/drawing/2014/main" id="{F884AC08-68A7-D515-9007-0E2D8639BA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duotone>
                    <a:prstClr val="black"/>
                    <a:srgbClr val="1F497D">
                      <a:tint val="45000"/>
                      <a:satMod val="400000"/>
                    </a:srgbClr>
                  </a:duotone>
                  <a:lum bright="-10000"/>
                </a:blip>
                <a:srcRect/>
                <a:stretch>
                  <a:fillRect/>
                </a:stretch>
              </p:blipFill>
              <p:spPr bwMode="auto">
                <a:xfrm rot="16200000">
                  <a:off x="2305837" y="4967536"/>
                  <a:ext cx="1016108" cy="432425"/>
                </a:xfrm>
                <a:prstGeom prst="rect">
                  <a:avLst/>
                </a:prstGeom>
                <a:noFill/>
              </p:spPr>
            </p:pic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556B0FBD-5C60-EFD0-9A66-D444E8F3D38C}"/>
                    </a:ext>
                  </a:extLst>
                </p:cNvPr>
                <p:cNvSpPr txBox="1"/>
                <p:nvPr/>
              </p:nvSpPr>
              <p:spPr>
                <a:xfrm>
                  <a:off x="4311227" y="3796195"/>
                  <a:ext cx="1021098" cy="893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植物乳杆菌</a:t>
                  </a:r>
                  <a:endParaRPr lang="en-US" altLang="zh-CN" sz="1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屎肠球菌</a:t>
                  </a:r>
                  <a:endParaRPr lang="en-US" altLang="zh-CN" sz="1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酿酒酵母</a:t>
                  </a:r>
                </a:p>
              </p:txBody>
            </p:sp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7536DF15-0F91-8CF2-DBD3-6E2DB3C81BF3}"/>
                    </a:ext>
                  </a:extLst>
                </p:cNvPr>
                <p:cNvSpPr txBox="1"/>
                <p:nvPr/>
              </p:nvSpPr>
              <p:spPr>
                <a:xfrm>
                  <a:off x="5262086" y="3791158"/>
                  <a:ext cx="1012148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rgbClr val="0070C0"/>
                      </a:solidFill>
                    </a:rPr>
                    <a:t>35</a:t>
                  </a:r>
                  <a:r>
                    <a:rPr lang="zh-CN" altLang="en-US" sz="2000" dirty="0">
                      <a:solidFill>
                        <a:srgbClr val="0070C0"/>
                      </a:solidFill>
                    </a:rPr>
                    <a:t>℃</a:t>
                  </a:r>
                  <a:endParaRPr lang="en-US" altLang="zh-CN" sz="2000" dirty="0">
                    <a:solidFill>
                      <a:srgbClr val="0070C0"/>
                    </a:solidFill>
                  </a:endParaRPr>
                </a:p>
                <a:p>
                  <a:r>
                    <a:rPr lang="en-US" altLang="zh-CN" sz="2000" dirty="0">
                      <a:solidFill>
                        <a:srgbClr val="0070C0"/>
                      </a:solidFill>
                    </a:rPr>
                    <a:t>6d</a:t>
                  </a:r>
                </a:p>
              </p:txBody>
            </p:sp>
            <p:pic>
              <p:nvPicPr>
                <p:cNvPr id="112" name="Picture 2" descr="F:\D盘资料（转移）to F\ppt版式模版\！精美PPT系列3\08\down.png">
                  <a:extLst>
                    <a:ext uri="{FF2B5EF4-FFF2-40B4-BE49-F238E27FC236}">
                      <a16:creationId xmlns:a16="http://schemas.microsoft.com/office/drawing/2014/main" id="{C6EF5C13-22D8-99EA-384E-715C35C5295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duotone>
                    <a:prstClr val="black"/>
                    <a:srgbClr val="1F497D">
                      <a:tint val="45000"/>
                      <a:satMod val="400000"/>
                    </a:srgbClr>
                  </a:duotone>
                  <a:lum bright="-10000"/>
                </a:blip>
                <a:srcRect/>
                <a:stretch>
                  <a:fillRect/>
                </a:stretch>
              </p:blipFill>
              <p:spPr bwMode="auto">
                <a:xfrm rot="16200000">
                  <a:off x="5838299" y="4728061"/>
                  <a:ext cx="1016108" cy="432425"/>
                </a:xfrm>
                <a:prstGeom prst="rect">
                  <a:avLst/>
                </a:prstGeom>
                <a:noFill/>
              </p:spPr>
            </p:pic>
            <p:grpSp>
              <p:nvGrpSpPr>
                <p:cNvPr id="115" name="组合 114">
                  <a:extLst>
                    <a:ext uri="{FF2B5EF4-FFF2-40B4-BE49-F238E27FC236}">
                      <a16:creationId xmlns:a16="http://schemas.microsoft.com/office/drawing/2014/main" id="{28B323F9-FE7F-B128-FC59-620281028D0A}"/>
                    </a:ext>
                  </a:extLst>
                </p:cNvPr>
                <p:cNvGrpSpPr/>
                <p:nvPr/>
              </p:nvGrpSpPr>
              <p:grpSpPr>
                <a:xfrm>
                  <a:off x="6646130" y="3389658"/>
                  <a:ext cx="1817104" cy="3463611"/>
                  <a:chOff x="6745696" y="3429000"/>
                  <a:chExt cx="1817104" cy="3463611"/>
                </a:xfrm>
              </p:grpSpPr>
              <p:grpSp>
                <p:nvGrpSpPr>
                  <p:cNvPr id="113" name="组合 112">
                    <a:extLst>
                      <a:ext uri="{FF2B5EF4-FFF2-40B4-BE49-F238E27FC236}">
                        <a16:creationId xmlns:a16="http://schemas.microsoft.com/office/drawing/2014/main" id="{092F4E3D-0DE6-CA71-6898-5B27427EAA15}"/>
                      </a:ext>
                    </a:extLst>
                  </p:cNvPr>
                  <p:cNvGrpSpPr/>
                  <p:nvPr/>
                </p:nvGrpSpPr>
                <p:grpSpPr>
                  <a:xfrm>
                    <a:off x="6745696" y="3429000"/>
                    <a:ext cx="1817104" cy="3463611"/>
                    <a:chOff x="6968893" y="3297071"/>
                    <a:chExt cx="1817104" cy="3463611"/>
                  </a:xfrm>
                </p:grpSpPr>
                <p:pic>
                  <p:nvPicPr>
                    <p:cNvPr id="18" name="图片 17">
                      <a:extLst>
                        <a:ext uri="{FF2B5EF4-FFF2-40B4-BE49-F238E27FC236}">
                          <a16:creationId xmlns:a16="http://schemas.microsoft.com/office/drawing/2014/main" id="{3264A502-C234-68AE-6D0B-26D136C9C6E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5179" t="26349" r="10309" b="10000"/>
                    <a:stretch/>
                  </p:blipFill>
                  <p:spPr>
                    <a:xfrm>
                      <a:off x="7441660" y="3471150"/>
                      <a:ext cx="879614" cy="1002061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" name="图片 19">
                      <a:extLst>
                        <a:ext uri="{FF2B5EF4-FFF2-40B4-BE49-F238E27FC236}">
                          <a16:creationId xmlns:a16="http://schemas.microsoft.com/office/drawing/2014/main" id="{906E0E1E-4673-B1EB-E5A9-DF8F8CACA97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1000" t="28889" r="19306" b="21428"/>
                    <a:stretch/>
                  </p:blipFill>
                  <p:spPr>
                    <a:xfrm>
                      <a:off x="7441660" y="4473211"/>
                      <a:ext cx="879614" cy="98918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" name="图片 21">
                      <a:extLst>
                        <a:ext uri="{FF2B5EF4-FFF2-40B4-BE49-F238E27FC236}">
                          <a16:creationId xmlns:a16="http://schemas.microsoft.com/office/drawing/2014/main" id="{25468CB0-50FD-9D1D-5405-17D3E98992E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5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552" t="33651" r="35394" b="13096"/>
                    <a:stretch/>
                  </p:blipFill>
                  <p:spPr>
                    <a:xfrm>
                      <a:off x="7441660" y="5452328"/>
                      <a:ext cx="879614" cy="100377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4" name="文本框 103">
                      <a:extLst>
                        <a:ext uri="{FF2B5EF4-FFF2-40B4-BE49-F238E27FC236}">
                          <a16:creationId xmlns:a16="http://schemas.microsoft.com/office/drawing/2014/main" id="{D2EE0457-D9CD-D63C-DE26-19686702EF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66013" y="3561612"/>
                      <a:ext cx="295596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400" dirty="0"/>
                        <a:t>对照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组</a:t>
                      </a:r>
                    </a:p>
                  </p:txBody>
                </p:sp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B8F49DB-D3D8-7E3B-E518-449C781754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66013" y="4585060"/>
                      <a:ext cx="295596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400" dirty="0"/>
                        <a:t>虫草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组</a:t>
                      </a:r>
                    </a:p>
                  </p:txBody>
                </p:sp>
                <p:sp>
                  <p:nvSpPr>
                    <p:cNvPr id="106" name="文本框 105">
                      <a:extLst>
                        <a:ext uri="{FF2B5EF4-FFF2-40B4-BE49-F238E27FC236}">
                          <a16:creationId xmlns:a16="http://schemas.microsoft.com/office/drawing/2014/main" id="{41F9AC50-3E5B-0E4C-F8B5-C600D2574E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70425" y="5514963"/>
                      <a:ext cx="295596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400" dirty="0"/>
                        <a:t>云芝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组</a:t>
                      </a:r>
                    </a:p>
                  </p:txBody>
                </p:sp>
                <p:grpSp>
                  <p:nvGrpSpPr>
                    <p:cNvPr id="107" name="组合 106">
                      <a:extLst>
                        <a:ext uri="{FF2B5EF4-FFF2-40B4-BE49-F238E27FC236}">
                          <a16:creationId xmlns:a16="http://schemas.microsoft.com/office/drawing/2014/main" id="{97521551-4392-3570-D733-86B6C78E19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68893" y="3297071"/>
                      <a:ext cx="1817104" cy="3463611"/>
                      <a:chOff x="2259804" y="2907979"/>
                      <a:chExt cx="1808140" cy="1007767"/>
                    </a:xfrm>
                  </p:grpSpPr>
                  <p:sp>
                    <p:nvSpPr>
                      <p:cNvPr id="108" name="矩形: 圆角 107">
                        <a:extLst>
                          <a:ext uri="{FF2B5EF4-FFF2-40B4-BE49-F238E27FC236}">
                            <a16:creationId xmlns:a16="http://schemas.microsoft.com/office/drawing/2014/main" id="{1D492EE1-CF16-8075-FCFB-377753ECFB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98481" y="2907979"/>
                        <a:ext cx="1469463" cy="1007767"/>
                      </a:xfrm>
                      <a:prstGeom prst="roundRect">
                        <a:avLst/>
                      </a:prstGeom>
                      <a:noFill/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10" name="流程图: 终止 109">
                        <a:extLst>
                          <a:ext uri="{FF2B5EF4-FFF2-40B4-BE49-F238E27FC236}">
                            <a16:creationId xmlns:a16="http://schemas.microsoft.com/office/drawing/2014/main" id="{81E930B6-2EA8-34ED-6920-9E8FF87F8A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9804" y="3168799"/>
                        <a:ext cx="418711" cy="376498"/>
                      </a:xfrm>
                      <a:prstGeom prst="flowChartTerminator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89D65B08-E901-3E06-6750-5871172F1F16}"/>
                      </a:ext>
                    </a:extLst>
                  </p:cNvPr>
                  <p:cNvSpPr txBox="1"/>
                  <p:nvPr/>
                </p:nvSpPr>
                <p:spPr>
                  <a:xfrm>
                    <a:off x="6770014" y="4467219"/>
                    <a:ext cx="327276" cy="95410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发酵饲料</a:t>
                    </a:r>
                  </a:p>
                </p:txBody>
              </p:sp>
            </p:grpSp>
            <p:grpSp>
              <p:nvGrpSpPr>
                <p:cNvPr id="119" name="组合 118">
                  <a:extLst>
                    <a:ext uri="{FF2B5EF4-FFF2-40B4-BE49-F238E27FC236}">
                      <a16:creationId xmlns:a16="http://schemas.microsoft.com/office/drawing/2014/main" id="{B2F2EE74-52B7-CFAC-3783-DD16FF816C02}"/>
                    </a:ext>
                  </a:extLst>
                </p:cNvPr>
                <p:cNvGrpSpPr/>
                <p:nvPr/>
              </p:nvGrpSpPr>
              <p:grpSpPr>
                <a:xfrm>
                  <a:off x="8811647" y="4220293"/>
                  <a:ext cx="450849" cy="1688708"/>
                  <a:chOff x="8789841" y="4088717"/>
                  <a:chExt cx="450849" cy="1688708"/>
                </a:xfrm>
              </p:grpSpPr>
              <p:sp>
                <p:nvSpPr>
                  <p:cNvPr id="116" name="矩形: 圆角 115">
                    <a:extLst>
                      <a:ext uri="{FF2B5EF4-FFF2-40B4-BE49-F238E27FC236}">
                        <a16:creationId xmlns:a16="http://schemas.microsoft.com/office/drawing/2014/main" id="{A9D66CF9-4A17-20A1-5E05-AA6CF607DCAB}"/>
                      </a:ext>
                    </a:extLst>
                  </p:cNvPr>
                  <p:cNvSpPr/>
                  <p:nvPr/>
                </p:nvSpPr>
                <p:spPr>
                  <a:xfrm>
                    <a:off x="8789841" y="4088717"/>
                    <a:ext cx="450849" cy="168870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EA27E1E2-C073-DF78-C84B-8804377F6353}"/>
                      </a:ext>
                    </a:extLst>
                  </p:cNvPr>
                  <p:cNvSpPr txBox="1"/>
                  <p:nvPr/>
                </p:nvSpPr>
                <p:spPr>
                  <a:xfrm>
                    <a:off x="8801136" y="4251999"/>
                    <a:ext cx="283029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dirty="0"/>
                      <a:t>评价指标</a:t>
                    </a:r>
                  </a:p>
                </p:txBody>
              </p:sp>
            </p:grpSp>
            <p:sp>
              <p:nvSpPr>
                <p:cNvPr id="118" name="箭头: 右 117">
                  <a:extLst>
                    <a:ext uri="{FF2B5EF4-FFF2-40B4-BE49-F238E27FC236}">
                      <a16:creationId xmlns:a16="http://schemas.microsoft.com/office/drawing/2014/main" id="{5AA68335-3E4D-85E5-AD92-93350CBB4D12}"/>
                    </a:ext>
                  </a:extLst>
                </p:cNvPr>
                <p:cNvSpPr/>
                <p:nvPr/>
              </p:nvSpPr>
              <p:spPr>
                <a:xfrm>
                  <a:off x="8503005" y="4776539"/>
                  <a:ext cx="236231" cy="536512"/>
                </a:xfrm>
                <a:prstGeom prst="rightArrow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122" name="组合 121">
                  <a:extLst>
                    <a:ext uri="{FF2B5EF4-FFF2-40B4-BE49-F238E27FC236}">
                      <a16:creationId xmlns:a16="http://schemas.microsoft.com/office/drawing/2014/main" id="{53E0DF91-AF2A-768C-5D46-7B6BD692EBB6}"/>
                    </a:ext>
                  </a:extLst>
                </p:cNvPr>
                <p:cNvGrpSpPr/>
                <p:nvPr/>
              </p:nvGrpSpPr>
              <p:grpSpPr>
                <a:xfrm>
                  <a:off x="9887739" y="3798003"/>
                  <a:ext cx="1841919" cy="422290"/>
                  <a:chOff x="9201201" y="3365615"/>
                  <a:chExt cx="2052312" cy="422290"/>
                </a:xfrm>
              </p:grpSpPr>
              <p:sp>
                <p:nvSpPr>
                  <p:cNvPr id="120" name="矩形 119">
                    <a:extLst>
                      <a:ext uri="{FF2B5EF4-FFF2-40B4-BE49-F238E27FC236}">
                        <a16:creationId xmlns:a16="http://schemas.microsoft.com/office/drawing/2014/main" id="{AB66BC8A-116C-FF4C-3948-AC35CA3B2752}"/>
                      </a:ext>
                    </a:extLst>
                  </p:cNvPr>
                  <p:cNvSpPr/>
                  <p:nvPr/>
                </p:nvSpPr>
                <p:spPr>
                  <a:xfrm>
                    <a:off x="9201201" y="3365615"/>
                    <a:ext cx="1591048" cy="42229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D9369FDE-7699-B2E6-109D-F4F78E0ECC4F}"/>
                      </a:ext>
                    </a:extLst>
                  </p:cNvPr>
                  <p:cNvSpPr txBox="1"/>
                  <p:nvPr/>
                </p:nvSpPr>
                <p:spPr>
                  <a:xfrm>
                    <a:off x="9541001" y="3407483"/>
                    <a:ext cx="1712512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600" dirty="0"/>
                      <a:t>活菌数</a:t>
                    </a:r>
                    <a:endParaRPr lang="en-US" altLang="zh-CN" sz="1600" dirty="0"/>
                  </a:p>
                </p:txBody>
              </p:sp>
            </p:grpSp>
            <p:grpSp>
              <p:nvGrpSpPr>
                <p:cNvPr id="123" name="组合 122">
                  <a:extLst>
                    <a:ext uri="{FF2B5EF4-FFF2-40B4-BE49-F238E27FC236}">
                      <a16:creationId xmlns:a16="http://schemas.microsoft.com/office/drawing/2014/main" id="{7136124B-5683-3F48-E04D-7521C1E0D7AC}"/>
                    </a:ext>
                  </a:extLst>
                </p:cNvPr>
                <p:cNvGrpSpPr/>
                <p:nvPr/>
              </p:nvGrpSpPr>
              <p:grpSpPr>
                <a:xfrm>
                  <a:off x="9893395" y="4499044"/>
                  <a:ext cx="1714772" cy="422290"/>
                  <a:chOff x="9201201" y="3365615"/>
                  <a:chExt cx="1910642" cy="422290"/>
                </a:xfrm>
              </p:grpSpPr>
              <p:sp>
                <p:nvSpPr>
                  <p:cNvPr id="124" name="矩形 123">
                    <a:extLst>
                      <a:ext uri="{FF2B5EF4-FFF2-40B4-BE49-F238E27FC236}">
                        <a16:creationId xmlns:a16="http://schemas.microsoft.com/office/drawing/2014/main" id="{41E8026A-BD9D-AE29-458A-C1C2441EAC20}"/>
                      </a:ext>
                    </a:extLst>
                  </p:cNvPr>
                  <p:cNvSpPr/>
                  <p:nvPr/>
                </p:nvSpPr>
                <p:spPr>
                  <a:xfrm>
                    <a:off x="9201201" y="3365615"/>
                    <a:ext cx="1591048" cy="42229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3DFE3B46-74B2-C559-E7DA-972108014BF0}"/>
                      </a:ext>
                    </a:extLst>
                  </p:cNvPr>
                  <p:cNvSpPr txBox="1"/>
                  <p:nvPr/>
                </p:nvSpPr>
                <p:spPr>
                  <a:xfrm>
                    <a:off x="9399331" y="3407483"/>
                    <a:ext cx="1712512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600" dirty="0"/>
                      <a:t>总酸及</a:t>
                    </a:r>
                    <a:r>
                      <a:rPr lang="en-US" altLang="zh-CN" sz="1600" dirty="0"/>
                      <a:t>pH</a:t>
                    </a:r>
                  </a:p>
                </p:txBody>
              </p:sp>
            </p:grpSp>
            <p:grpSp>
              <p:nvGrpSpPr>
                <p:cNvPr id="126" name="组合 125">
                  <a:extLst>
                    <a:ext uri="{FF2B5EF4-FFF2-40B4-BE49-F238E27FC236}">
                      <a16:creationId xmlns:a16="http://schemas.microsoft.com/office/drawing/2014/main" id="{5548287E-2803-9FB2-AD86-15D7346DF150}"/>
                    </a:ext>
                  </a:extLst>
                </p:cNvPr>
                <p:cNvGrpSpPr/>
                <p:nvPr/>
              </p:nvGrpSpPr>
              <p:grpSpPr>
                <a:xfrm>
                  <a:off x="9687241" y="5270392"/>
                  <a:ext cx="2052530" cy="422290"/>
                  <a:chOff x="9201201" y="3365615"/>
                  <a:chExt cx="2353102" cy="422290"/>
                </a:xfrm>
              </p:grpSpPr>
              <p:sp>
                <p:nvSpPr>
                  <p:cNvPr id="127" name="矩形 126">
                    <a:extLst>
                      <a:ext uri="{FF2B5EF4-FFF2-40B4-BE49-F238E27FC236}">
                        <a16:creationId xmlns:a16="http://schemas.microsoft.com/office/drawing/2014/main" id="{C22C532B-1F26-0A8E-3798-DDB5B072DC78}"/>
                      </a:ext>
                    </a:extLst>
                  </p:cNvPr>
                  <p:cNvSpPr/>
                  <p:nvPr/>
                </p:nvSpPr>
                <p:spPr>
                  <a:xfrm>
                    <a:off x="9201201" y="3365615"/>
                    <a:ext cx="2353102" cy="42229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8" name="文本框 127">
                    <a:extLst>
                      <a:ext uri="{FF2B5EF4-FFF2-40B4-BE49-F238E27FC236}">
                        <a16:creationId xmlns:a16="http://schemas.microsoft.com/office/drawing/2014/main" id="{AE0B5DB1-38F5-4B6E-B377-B3669C599574}"/>
                      </a:ext>
                    </a:extLst>
                  </p:cNvPr>
                  <p:cNvSpPr txBox="1"/>
                  <p:nvPr/>
                </p:nvSpPr>
                <p:spPr>
                  <a:xfrm>
                    <a:off x="9324399" y="3412813"/>
                    <a:ext cx="2106705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600" dirty="0"/>
                      <a:t>粗蛋白、酸溶蛋白</a:t>
                    </a:r>
                    <a:endParaRPr lang="en-US" altLang="zh-CN" sz="1600" dirty="0"/>
                  </a:p>
                </p:txBody>
              </p:sp>
            </p:grpSp>
            <p:grpSp>
              <p:nvGrpSpPr>
                <p:cNvPr id="129" name="组合 128">
                  <a:extLst>
                    <a:ext uri="{FF2B5EF4-FFF2-40B4-BE49-F238E27FC236}">
                      <a16:creationId xmlns:a16="http://schemas.microsoft.com/office/drawing/2014/main" id="{BBA7C201-4C8C-41AB-5035-BF79E9A2BDBE}"/>
                    </a:ext>
                  </a:extLst>
                </p:cNvPr>
                <p:cNvGrpSpPr/>
                <p:nvPr/>
              </p:nvGrpSpPr>
              <p:grpSpPr>
                <a:xfrm>
                  <a:off x="9958163" y="5980958"/>
                  <a:ext cx="1660374" cy="422290"/>
                  <a:chOff x="9403483" y="3366006"/>
                  <a:chExt cx="1850030" cy="422290"/>
                </a:xfrm>
              </p:grpSpPr>
              <p:sp>
                <p:nvSpPr>
                  <p:cNvPr id="130" name="矩形 129">
                    <a:extLst>
                      <a:ext uri="{FF2B5EF4-FFF2-40B4-BE49-F238E27FC236}">
                        <a16:creationId xmlns:a16="http://schemas.microsoft.com/office/drawing/2014/main" id="{FDC032AD-5225-A861-CAD0-39E088C5336D}"/>
                      </a:ext>
                    </a:extLst>
                  </p:cNvPr>
                  <p:cNvSpPr/>
                  <p:nvPr/>
                </p:nvSpPr>
                <p:spPr>
                  <a:xfrm>
                    <a:off x="9403483" y="3366006"/>
                    <a:ext cx="1591049" cy="42229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2558D80D-1E53-AD55-FEE1-96C340E3A6DA}"/>
                      </a:ext>
                    </a:extLst>
                  </p:cNvPr>
                  <p:cNvSpPr txBox="1"/>
                  <p:nvPr/>
                </p:nvSpPr>
                <p:spPr>
                  <a:xfrm>
                    <a:off x="9541001" y="3407483"/>
                    <a:ext cx="1712512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1600" dirty="0"/>
                      <a:t>纤维素含量</a:t>
                    </a:r>
                    <a:endParaRPr lang="en-US" altLang="zh-CN" sz="1600" dirty="0"/>
                  </a:p>
                </p:txBody>
              </p:sp>
            </p:grpSp>
            <p:sp>
              <p:nvSpPr>
                <p:cNvPr id="133" name="左大括号 132">
                  <a:extLst>
                    <a:ext uri="{FF2B5EF4-FFF2-40B4-BE49-F238E27FC236}">
                      <a16:creationId xmlns:a16="http://schemas.microsoft.com/office/drawing/2014/main" id="{521483F7-BC62-79A1-A078-79136C56BEE8}"/>
                    </a:ext>
                  </a:extLst>
                </p:cNvPr>
                <p:cNvSpPr/>
                <p:nvPr/>
              </p:nvSpPr>
              <p:spPr>
                <a:xfrm>
                  <a:off x="9284182" y="4023530"/>
                  <a:ext cx="295596" cy="2322683"/>
                </a:xfrm>
                <a:prstGeom prst="leftBrace">
                  <a:avLst/>
                </a:prstGeom>
                <a:ln w="381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5"/>
                </a:lnRef>
                <a:fillRef idx="0">
                  <a:schemeClr val="accent5"/>
                </a:fillRef>
                <a:effectRef idx="1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38" name="连接符: 肘形 137">
                  <a:extLst>
                    <a:ext uri="{FF2B5EF4-FFF2-40B4-BE49-F238E27FC236}">
                      <a16:creationId xmlns:a16="http://schemas.microsoft.com/office/drawing/2014/main" id="{F35B0AE7-5F86-B54A-8C14-0BEB62025B70}"/>
                    </a:ext>
                  </a:extLst>
                </p:cNvPr>
                <p:cNvCxnSpPr>
                  <a:stCxn id="57" idx="2"/>
                  <a:endCxn id="90" idx="0"/>
                </p:cNvCxnSpPr>
                <p:nvPr/>
              </p:nvCxnSpPr>
              <p:spPr>
                <a:xfrm rot="5400000">
                  <a:off x="3439128" y="791868"/>
                  <a:ext cx="1285425" cy="5441141"/>
                </a:xfrm>
                <a:prstGeom prst="bentConnector3">
                  <a:avLst>
                    <a:gd name="adj1" fmla="val 27649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B7F50EE1-3BC9-B619-CAE2-4FDE0CC1AC98}"/>
                  </a:ext>
                </a:extLst>
              </p:cNvPr>
              <p:cNvSpPr txBox="1"/>
              <p:nvPr/>
            </p:nvSpPr>
            <p:spPr>
              <a:xfrm>
                <a:off x="5140864" y="4606638"/>
                <a:ext cx="113053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rgbClr val="0070C0"/>
                    </a:solidFill>
                    <a:latin typeface="+mn-ea"/>
                  </a:rPr>
                  <a:t>水分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+mn-ea"/>
                  </a:rPr>
                  <a:t>50%</a:t>
                </a:r>
                <a:endParaRPr lang="zh-CN" altLang="en-US" sz="1600" dirty="0">
                  <a:solidFill>
                    <a:srgbClr val="0070C0"/>
                  </a:solidFill>
                  <a:latin typeface="+mn-ea"/>
                </a:endParaRPr>
              </a:p>
            </p:txBody>
          </p:sp>
        </p:grp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8D3C8E71-7F75-4B9C-1220-ECD15890D55C}"/>
                </a:ext>
              </a:extLst>
            </p:cNvPr>
            <p:cNvSpPr txBox="1"/>
            <p:nvPr/>
          </p:nvSpPr>
          <p:spPr>
            <a:xfrm>
              <a:off x="1622387" y="2713631"/>
              <a:ext cx="1287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latin typeface="+mj-ea"/>
                  <a:ea typeface="+mj-ea"/>
                </a:rPr>
                <a:t>10%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+mj-ea"/>
                  <a:ea typeface="+mj-ea"/>
                </a:rPr>
                <a:t>添加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92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78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主题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K</dc:creator>
  <cp:lastModifiedBy>城瑜 张</cp:lastModifiedBy>
  <cp:revision>5</cp:revision>
  <dcterms:created xsi:type="dcterms:W3CDTF">2025-02-23T05:27:01Z</dcterms:created>
  <dcterms:modified xsi:type="dcterms:W3CDTF">2026-09-05T10:43:39Z</dcterms:modified>
</cp:coreProperties>
</file>